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2A8_97AA2C9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55" r:id="rId1"/>
  </p:sldMasterIdLst>
  <p:notesMasterIdLst>
    <p:notesMasterId r:id="rId25"/>
  </p:notesMasterIdLst>
  <p:handoutMasterIdLst>
    <p:handoutMasterId r:id="rId26"/>
  </p:handoutMasterIdLst>
  <p:sldIdLst>
    <p:sldId id="650" r:id="rId2"/>
    <p:sldId id="599" r:id="rId3"/>
    <p:sldId id="658" r:id="rId4"/>
    <p:sldId id="659" r:id="rId5"/>
    <p:sldId id="661" r:id="rId6"/>
    <p:sldId id="256" r:id="rId7"/>
    <p:sldId id="652" r:id="rId8"/>
    <p:sldId id="261" r:id="rId9"/>
    <p:sldId id="264" r:id="rId10"/>
    <p:sldId id="681" r:id="rId11"/>
    <p:sldId id="592" r:id="rId12"/>
    <p:sldId id="672" r:id="rId13"/>
    <p:sldId id="680" r:id="rId14"/>
    <p:sldId id="664" r:id="rId15"/>
    <p:sldId id="665" r:id="rId16"/>
    <p:sldId id="674" r:id="rId17"/>
    <p:sldId id="679" r:id="rId18"/>
    <p:sldId id="666" r:id="rId19"/>
    <p:sldId id="676" r:id="rId20"/>
    <p:sldId id="668" r:id="rId21"/>
    <p:sldId id="677" r:id="rId22"/>
    <p:sldId id="670" r:id="rId23"/>
    <p:sldId id="678" r:id="rId24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5F3706-7BC0-DE29-78DA-44C5D78E12A1}" name="Edward Kasprzak" initials="EK" userId="1827abd8a76c3b2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Ornstein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17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30" autoAdjust="0"/>
    <p:restoredTop sz="95122" autoAdjust="0"/>
  </p:normalViewPr>
  <p:slideViewPr>
    <p:cSldViewPr snapToGrid="0" showGuides="1">
      <p:cViewPr varScale="1">
        <p:scale>
          <a:sx n="76" d="100"/>
          <a:sy n="76" d="100"/>
        </p:scale>
        <p:origin x="1013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10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3134" y="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modernComment_2A8_97AA2C9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111240-EB99-4111-B375-1331AEF0DBA9}" authorId="{585F3706-7BC0-DE29-78DA-44C5D78E12A1}" created="2024-09-10T18:46:16.3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44512152" sldId="680"/>
      <ac:spMk id="36868" creationId="{0859F347-BAD8-ACC0-7360-BB453016091C}"/>
    </ac:deMkLst>
    <p188:txBody>
      <a:bodyPr/>
      <a:lstStyle/>
      <a:p>
        <a:r>
          <a:rPr lang="en-US"/>
          <a:t>Fix order of categories.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5CC33-FC02-4736-BE03-F1D9126949BA}" type="doc">
      <dgm:prSet loTypeId="urn:microsoft.com/office/officeart/2005/8/layout/vList2" loCatId="list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D829A6-F2DD-4809-864C-457DD1976A04}">
      <dgm:prSet/>
      <dgm:spPr/>
      <dgm:t>
        <a:bodyPr/>
        <a:lstStyle/>
        <a:p>
          <a:r>
            <a:rPr lang="en-US" strike="noStrike" dirty="0"/>
            <a:t>Design/Engineering </a:t>
          </a:r>
          <a:r>
            <a:rPr lang="en-US" dirty="0"/>
            <a:t>Executive Summary</a:t>
          </a:r>
        </a:p>
      </dgm:t>
    </dgm:pt>
    <dgm:pt modelId="{695C6BC9-A1C1-411C-BCE2-57A1C7332344}" type="parTrans" cxnId="{C702A1FE-5A23-425F-AA4C-4E97EB2920B5}">
      <dgm:prSet/>
      <dgm:spPr/>
      <dgm:t>
        <a:bodyPr/>
        <a:lstStyle/>
        <a:p>
          <a:endParaRPr lang="en-US"/>
        </a:p>
      </dgm:t>
    </dgm:pt>
    <dgm:pt modelId="{1E7D5526-0797-42BC-AA18-134B74C89F57}" type="sibTrans" cxnId="{C702A1FE-5A23-425F-AA4C-4E97EB2920B5}">
      <dgm:prSet/>
      <dgm:spPr/>
      <dgm:t>
        <a:bodyPr/>
        <a:lstStyle/>
        <a:p>
          <a:endParaRPr lang="en-US"/>
        </a:p>
      </dgm:t>
    </dgm:pt>
    <dgm:pt modelId="{707EFB68-DECD-45A7-B6D2-4244E3A8AB96}">
      <dgm:prSet/>
      <dgm:spPr/>
      <dgm:t>
        <a:bodyPr/>
        <a:lstStyle/>
        <a:p>
          <a:r>
            <a:rPr lang="en-US" dirty="0"/>
            <a:t>Vehicle Dynamics</a:t>
          </a:r>
        </a:p>
      </dgm:t>
    </dgm:pt>
    <dgm:pt modelId="{0A43AEBB-CE8E-481D-9FB3-F4B4D97BDD03}" type="parTrans" cxnId="{945372E6-82B8-44B3-A258-FCE3C0470797}">
      <dgm:prSet/>
      <dgm:spPr/>
      <dgm:t>
        <a:bodyPr/>
        <a:lstStyle/>
        <a:p>
          <a:endParaRPr lang="en-US"/>
        </a:p>
      </dgm:t>
    </dgm:pt>
    <dgm:pt modelId="{A14D4D1E-93C2-442E-A23F-44B4BCA1E673}" type="sibTrans" cxnId="{945372E6-82B8-44B3-A258-FCE3C0470797}">
      <dgm:prSet/>
      <dgm:spPr/>
      <dgm:t>
        <a:bodyPr/>
        <a:lstStyle/>
        <a:p>
          <a:endParaRPr lang="en-US"/>
        </a:p>
      </dgm:t>
    </dgm:pt>
    <dgm:pt modelId="{1D8DCA28-F618-4ED3-884E-7C65D2AB0697}">
      <dgm:prSet/>
      <dgm:spPr/>
      <dgm:t>
        <a:bodyPr/>
        <a:lstStyle/>
        <a:p>
          <a:r>
            <a:rPr lang="en-US" dirty="0"/>
            <a:t>Aerodynamics</a:t>
          </a:r>
        </a:p>
      </dgm:t>
    </dgm:pt>
    <dgm:pt modelId="{A38DAFB2-6479-4697-8316-648182A550A5}" type="parTrans" cxnId="{73D27691-7107-4268-8694-6089C4D1C7D6}">
      <dgm:prSet/>
      <dgm:spPr/>
      <dgm:t>
        <a:bodyPr/>
        <a:lstStyle/>
        <a:p>
          <a:endParaRPr lang="en-US"/>
        </a:p>
      </dgm:t>
    </dgm:pt>
    <dgm:pt modelId="{7A64ACF8-B631-432A-BCA3-2F5FB1F8DD27}" type="sibTrans" cxnId="{73D27691-7107-4268-8694-6089C4D1C7D6}">
      <dgm:prSet/>
      <dgm:spPr/>
      <dgm:t>
        <a:bodyPr/>
        <a:lstStyle/>
        <a:p>
          <a:endParaRPr lang="en-US"/>
        </a:p>
      </dgm:t>
    </dgm:pt>
    <dgm:pt modelId="{674F31E4-B358-46A1-93F5-4067441EA233}">
      <dgm:prSet/>
      <dgm:spPr/>
      <dgm:t>
        <a:bodyPr/>
        <a:lstStyle/>
        <a:p>
          <a:r>
            <a:rPr lang="en-US" dirty="0"/>
            <a:t>Powertrain</a:t>
          </a:r>
        </a:p>
      </dgm:t>
    </dgm:pt>
    <dgm:pt modelId="{95057775-F18A-4097-993F-8DD76C902F76}" type="parTrans" cxnId="{8909A34E-8091-404F-A47D-01A81C94BD0D}">
      <dgm:prSet/>
      <dgm:spPr/>
      <dgm:t>
        <a:bodyPr/>
        <a:lstStyle/>
        <a:p>
          <a:endParaRPr lang="en-US"/>
        </a:p>
      </dgm:t>
    </dgm:pt>
    <dgm:pt modelId="{A34ABB66-E2F5-47EE-A525-103776E5C03F}" type="sibTrans" cxnId="{8909A34E-8091-404F-A47D-01A81C94BD0D}">
      <dgm:prSet/>
      <dgm:spPr/>
      <dgm:t>
        <a:bodyPr/>
        <a:lstStyle/>
        <a:p>
          <a:endParaRPr lang="en-US"/>
        </a:p>
      </dgm:t>
    </dgm:pt>
    <dgm:pt modelId="{3B88B0AD-7F3F-4752-AEBB-5F1A809BA37C}">
      <dgm:prSet/>
      <dgm:spPr/>
      <dgm:t>
        <a:bodyPr/>
        <a:lstStyle/>
        <a:p>
          <a:r>
            <a:rPr lang="en-US" dirty="0"/>
            <a:t>Chassis</a:t>
          </a:r>
        </a:p>
      </dgm:t>
    </dgm:pt>
    <dgm:pt modelId="{F317E38B-2EB1-4D4B-9A27-617D51278EAE}" type="parTrans" cxnId="{E4D55DF2-39AC-437C-BA67-BD31B0230403}">
      <dgm:prSet/>
      <dgm:spPr/>
      <dgm:t>
        <a:bodyPr/>
        <a:lstStyle/>
        <a:p>
          <a:endParaRPr lang="en-US"/>
        </a:p>
      </dgm:t>
    </dgm:pt>
    <dgm:pt modelId="{F46373BD-AAE0-492B-BD3C-6DA34287586A}" type="sibTrans" cxnId="{E4D55DF2-39AC-437C-BA67-BD31B0230403}">
      <dgm:prSet/>
      <dgm:spPr/>
      <dgm:t>
        <a:bodyPr/>
        <a:lstStyle/>
        <a:p>
          <a:endParaRPr lang="en-US"/>
        </a:p>
      </dgm:t>
    </dgm:pt>
    <dgm:pt modelId="{D837E497-E8C4-4C80-95BE-685B48F3A890}">
      <dgm:prSet/>
      <dgm:spPr/>
      <dgm:t>
        <a:bodyPr/>
        <a:lstStyle/>
        <a:p>
          <a:r>
            <a:rPr lang="en-US" dirty="0"/>
            <a:t>Driver Interface &amp; Brakes</a:t>
          </a:r>
        </a:p>
      </dgm:t>
    </dgm:pt>
    <dgm:pt modelId="{C7DD7E7F-6CFE-4481-B38A-BADC04F3A68C}" type="parTrans" cxnId="{CF9C7C72-2988-4101-A2BE-4466E9EE3EBD}">
      <dgm:prSet/>
      <dgm:spPr/>
      <dgm:t>
        <a:bodyPr/>
        <a:lstStyle/>
        <a:p>
          <a:endParaRPr lang="en-US"/>
        </a:p>
      </dgm:t>
    </dgm:pt>
    <dgm:pt modelId="{C2F3870A-7258-406E-A1AD-4993D178F8FF}" type="sibTrans" cxnId="{CF9C7C72-2988-4101-A2BE-4466E9EE3EBD}">
      <dgm:prSet/>
      <dgm:spPr/>
      <dgm:t>
        <a:bodyPr/>
        <a:lstStyle/>
        <a:p>
          <a:endParaRPr lang="en-US"/>
        </a:p>
      </dgm:t>
    </dgm:pt>
    <dgm:pt modelId="{9D142CDF-951F-4A5D-89FD-8004C341EF31}">
      <dgm:prSet/>
      <dgm:spPr/>
      <dgm:t>
        <a:bodyPr/>
        <a:lstStyle/>
        <a:p>
          <a:r>
            <a:rPr lang="en-US" dirty="0"/>
            <a:t>Overall Vehicle</a:t>
          </a:r>
        </a:p>
      </dgm:t>
    </dgm:pt>
    <dgm:pt modelId="{F88F886F-D0B6-40FA-8059-CEFBBA9D5EC8}" type="parTrans" cxnId="{FE71EFBE-8109-4E79-866F-4416F38B549C}">
      <dgm:prSet/>
      <dgm:spPr/>
      <dgm:t>
        <a:bodyPr/>
        <a:lstStyle/>
        <a:p>
          <a:endParaRPr lang="en-US"/>
        </a:p>
      </dgm:t>
    </dgm:pt>
    <dgm:pt modelId="{8B3868BA-FA30-4256-B317-622C15792C2E}" type="sibTrans" cxnId="{FE71EFBE-8109-4E79-866F-4416F38B549C}">
      <dgm:prSet/>
      <dgm:spPr/>
      <dgm:t>
        <a:bodyPr/>
        <a:lstStyle/>
        <a:p>
          <a:endParaRPr lang="en-US"/>
        </a:p>
      </dgm:t>
    </dgm:pt>
    <dgm:pt modelId="{A93CCE8D-55BB-4CEE-838B-FF6999B465D5}">
      <dgm:prSet/>
      <dgm:spPr/>
      <dgm:t>
        <a:bodyPr/>
        <a:lstStyle/>
        <a:p>
          <a:r>
            <a:rPr lang="en-US" dirty="0"/>
            <a:t>Low Voltage Elec. &amp; Data Acquisition</a:t>
          </a:r>
        </a:p>
      </dgm:t>
    </dgm:pt>
    <dgm:pt modelId="{45B7BE4F-BDB5-47D7-BF48-21609F3BE7E6}" type="parTrans" cxnId="{52825084-E33D-4913-8E8A-BA57C2203D50}">
      <dgm:prSet/>
      <dgm:spPr/>
      <dgm:t>
        <a:bodyPr/>
        <a:lstStyle/>
        <a:p>
          <a:endParaRPr lang="en-US"/>
        </a:p>
      </dgm:t>
    </dgm:pt>
    <dgm:pt modelId="{4716EA2F-8110-4275-9845-1E977E52FAD3}" type="sibTrans" cxnId="{52825084-E33D-4913-8E8A-BA57C2203D50}">
      <dgm:prSet/>
      <dgm:spPr/>
      <dgm:t>
        <a:bodyPr/>
        <a:lstStyle/>
        <a:p>
          <a:endParaRPr lang="en-US"/>
        </a:p>
      </dgm:t>
    </dgm:pt>
    <dgm:pt modelId="{439B428B-FDBA-40A2-9D63-12A444FF2032}" type="pres">
      <dgm:prSet presAssocID="{2BA5CC33-FC02-4736-BE03-F1D9126949BA}" presName="linear" presStyleCnt="0">
        <dgm:presLayoutVars>
          <dgm:animLvl val="lvl"/>
          <dgm:resizeHandles val="exact"/>
        </dgm:presLayoutVars>
      </dgm:prSet>
      <dgm:spPr/>
    </dgm:pt>
    <dgm:pt modelId="{3448A6CD-0C43-44EE-9487-BD5B94B2D2BE}" type="pres">
      <dgm:prSet presAssocID="{39D829A6-F2DD-4809-864C-457DD1976A04}" presName="parentText" presStyleLbl="node1" presStyleIdx="0" presStyleCnt="8" custLinFactNeighborX="-3873" custLinFactNeighborY="-26437">
        <dgm:presLayoutVars>
          <dgm:chMax val="0"/>
          <dgm:bulletEnabled val="1"/>
        </dgm:presLayoutVars>
      </dgm:prSet>
      <dgm:spPr/>
    </dgm:pt>
    <dgm:pt modelId="{6DA3F015-B9CA-4C8E-A7A5-4514D3F4204A}" type="pres">
      <dgm:prSet presAssocID="{1E7D5526-0797-42BC-AA18-134B74C89F57}" presName="spacer" presStyleCnt="0"/>
      <dgm:spPr/>
    </dgm:pt>
    <dgm:pt modelId="{9F2BB566-C27A-469E-8C31-6D990DC65362}" type="pres">
      <dgm:prSet presAssocID="{9D142CDF-951F-4A5D-89FD-8004C341EF3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22367271-2617-4818-AD5F-7524E6BD9758}" type="pres">
      <dgm:prSet presAssocID="{8B3868BA-FA30-4256-B317-622C15792C2E}" presName="spacer" presStyleCnt="0"/>
      <dgm:spPr/>
    </dgm:pt>
    <dgm:pt modelId="{5ACFDFF9-1B8E-4BAD-B24B-AD7D1F6F7008}" type="pres">
      <dgm:prSet presAssocID="{707EFB68-DECD-45A7-B6D2-4244E3A8AB96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76EB9FFB-1187-4243-9F27-7D6E0065DBF3}" type="pres">
      <dgm:prSet presAssocID="{A14D4D1E-93C2-442E-A23F-44B4BCA1E673}" presName="spacer" presStyleCnt="0"/>
      <dgm:spPr/>
    </dgm:pt>
    <dgm:pt modelId="{CDAFF379-E5BE-4BE1-AC51-672FF0E12DBE}" type="pres">
      <dgm:prSet presAssocID="{1D8DCA28-F618-4ED3-884E-7C65D2AB069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1591482-432A-4665-8133-FC1334877655}" type="pres">
      <dgm:prSet presAssocID="{7A64ACF8-B631-432A-BCA3-2F5FB1F8DD27}" presName="spacer" presStyleCnt="0"/>
      <dgm:spPr/>
    </dgm:pt>
    <dgm:pt modelId="{105E37E4-AC87-4652-A121-D684D3BC29EA}" type="pres">
      <dgm:prSet presAssocID="{674F31E4-B358-46A1-93F5-4067441EA23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354207EA-0641-4C74-A569-5980FB287FCF}" type="pres">
      <dgm:prSet presAssocID="{A34ABB66-E2F5-47EE-A525-103776E5C03F}" presName="spacer" presStyleCnt="0"/>
      <dgm:spPr/>
    </dgm:pt>
    <dgm:pt modelId="{C263D0F9-0545-4096-B6EE-D34EFE4DA3AE}" type="pres">
      <dgm:prSet presAssocID="{3B88B0AD-7F3F-4752-AEBB-5F1A809BA37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BEEA750C-7A62-4409-AF55-34C20BD8F37F}" type="pres">
      <dgm:prSet presAssocID="{F46373BD-AAE0-492B-BD3C-6DA34287586A}" presName="spacer" presStyleCnt="0"/>
      <dgm:spPr/>
    </dgm:pt>
    <dgm:pt modelId="{8705865C-4CE8-4503-B25C-2035B908D6D3}" type="pres">
      <dgm:prSet presAssocID="{D837E497-E8C4-4C80-95BE-685B48F3A890}" presName="parentText" presStyleLbl="node1" presStyleIdx="6" presStyleCnt="8" custLinFactNeighborX="-41" custLinFactNeighborY="-32427">
        <dgm:presLayoutVars>
          <dgm:chMax val="0"/>
          <dgm:bulletEnabled val="1"/>
        </dgm:presLayoutVars>
      </dgm:prSet>
      <dgm:spPr/>
    </dgm:pt>
    <dgm:pt modelId="{005F7DE0-ACA8-48C3-93D8-B08750E7004E}" type="pres">
      <dgm:prSet presAssocID="{C2F3870A-7258-406E-A1AD-4993D178F8FF}" presName="spacer" presStyleCnt="0"/>
      <dgm:spPr/>
    </dgm:pt>
    <dgm:pt modelId="{F30A684C-CB1F-4BF0-BAB8-DFE63D514F3C}" type="pres">
      <dgm:prSet presAssocID="{A93CCE8D-55BB-4CEE-838B-FF6999B465D5}" presName="parentText" presStyleLbl="node1" presStyleIdx="7" presStyleCnt="8" custLinFactNeighborX="-41" custLinFactNeighborY="-26953">
        <dgm:presLayoutVars>
          <dgm:chMax val="0"/>
          <dgm:bulletEnabled val="1"/>
        </dgm:presLayoutVars>
      </dgm:prSet>
      <dgm:spPr/>
    </dgm:pt>
  </dgm:ptLst>
  <dgm:cxnLst>
    <dgm:cxn modelId="{DE288A07-BF03-4A47-B4B0-EA2D311CD386}" type="presOf" srcId="{3B88B0AD-7F3F-4752-AEBB-5F1A809BA37C}" destId="{C263D0F9-0545-4096-B6EE-D34EFE4DA3AE}" srcOrd="0" destOrd="0" presId="urn:microsoft.com/office/officeart/2005/8/layout/vList2"/>
    <dgm:cxn modelId="{9A005A0C-465E-4C2D-9FEB-C1871C0BEDD6}" type="presOf" srcId="{A93CCE8D-55BB-4CEE-838B-FF6999B465D5}" destId="{F30A684C-CB1F-4BF0-BAB8-DFE63D514F3C}" srcOrd="0" destOrd="0" presId="urn:microsoft.com/office/officeart/2005/8/layout/vList2"/>
    <dgm:cxn modelId="{A0469768-CDC8-4B8C-9A3A-C3512F411183}" type="presOf" srcId="{2BA5CC33-FC02-4736-BE03-F1D9126949BA}" destId="{439B428B-FDBA-40A2-9D63-12A444FF2032}" srcOrd="0" destOrd="0" presId="urn:microsoft.com/office/officeart/2005/8/layout/vList2"/>
    <dgm:cxn modelId="{8909A34E-8091-404F-A47D-01A81C94BD0D}" srcId="{2BA5CC33-FC02-4736-BE03-F1D9126949BA}" destId="{674F31E4-B358-46A1-93F5-4067441EA233}" srcOrd="4" destOrd="0" parTransId="{95057775-F18A-4097-993F-8DD76C902F76}" sibTransId="{A34ABB66-E2F5-47EE-A525-103776E5C03F}"/>
    <dgm:cxn modelId="{CF9C7C72-2988-4101-A2BE-4466E9EE3EBD}" srcId="{2BA5CC33-FC02-4736-BE03-F1D9126949BA}" destId="{D837E497-E8C4-4C80-95BE-685B48F3A890}" srcOrd="6" destOrd="0" parTransId="{C7DD7E7F-6CFE-4481-B38A-BADC04F3A68C}" sibTransId="{C2F3870A-7258-406E-A1AD-4993D178F8FF}"/>
    <dgm:cxn modelId="{2A88ED73-0C12-4D59-A40B-62576CF96048}" type="presOf" srcId="{707EFB68-DECD-45A7-B6D2-4244E3A8AB96}" destId="{5ACFDFF9-1B8E-4BAD-B24B-AD7D1F6F7008}" srcOrd="0" destOrd="0" presId="urn:microsoft.com/office/officeart/2005/8/layout/vList2"/>
    <dgm:cxn modelId="{84C97358-9BA5-4331-B0D0-F1904F80EDF5}" type="presOf" srcId="{1D8DCA28-F618-4ED3-884E-7C65D2AB0697}" destId="{CDAFF379-E5BE-4BE1-AC51-672FF0E12DBE}" srcOrd="0" destOrd="0" presId="urn:microsoft.com/office/officeart/2005/8/layout/vList2"/>
    <dgm:cxn modelId="{D0BCB77D-EAF2-4494-AE60-B2CF927DA2F4}" type="presOf" srcId="{D837E497-E8C4-4C80-95BE-685B48F3A890}" destId="{8705865C-4CE8-4503-B25C-2035B908D6D3}" srcOrd="0" destOrd="0" presId="urn:microsoft.com/office/officeart/2005/8/layout/vList2"/>
    <dgm:cxn modelId="{52825084-E33D-4913-8E8A-BA57C2203D50}" srcId="{2BA5CC33-FC02-4736-BE03-F1D9126949BA}" destId="{A93CCE8D-55BB-4CEE-838B-FF6999B465D5}" srcOrd="7" destOrd="0" parTransId="{45B7BE4F-BDB5-47D7-BF48-21609F3BE7E6}" sibTransId="{4716EA2F-8110-4275-9845-1E977E52FAD3}"/>
    <dgm:cxn modelId="{73D27691-7107-4268-8694-6089C4D1C7D6}" srcId="{2BA5CC33-FC02-4736-BE03-F1D9126949BA}" destId="{1D8DCA28-F618-4ED3-884E-7C65D2AB0697}" srcOrd="3" destOrd="0" parTransId="{A38DAFB2-6479-4697-8316-648182A550A5}" sibTransId="{7A64ACF8-B631-432A-BCA3-2F5FB1F8DD27}"/>
    <dgm:cxn modelId="{2D603195-AA24-4644-A9B8-8525E7957FC1}" type="presOf" srcId="{9D142CDF-951F-4A5D-89FD-8004C341EF31}" destId="{9F2BB566-C27A-469E-8C31-6D990DC65362}" srcOrd="0" destOrd="0" presId="urn:microsoft.com/office/officeart/2005/8/layout/vList2"/>
    <dgm:cxn modelId="{54D19FB0-BCFC-4CCC-9464-DD649C636AA4}" type="presOf" srcId="{39D829A6-F2DD-4809-864C-457DD1976A04}" destId="{3448A6CD-0C43-44EE-9487-BD5B94B2D2BE}" srcOrd="0" destOrd="0" presId="urn:microsoft.com/office/officeart/2005/8/layout/vList2"/>
    <dgm:cxn modelId="{FE71EFBE-8109-4E79-866F-4416F38B549C}" srcId="{2BA5CC33-FC02-4736-BE03-F1D9126949BA}" destId="{9D142CDF-951F-4A5D-89FD-8004C341EF31}" srcOrd="1" destOrd="0" parTransId="{F88F886F-D0B6-40FA-8059-CEFBBA9D5EC8}" sibTransId="{8B3868BA-FA30-4256-B317-622C15792C2E}"/>
    <dgm:cxn modelId="{6F9CD5D6-999D-4A95-859E-8A423C476CBA}" type="presOf" srcId="{674F31E4-B358-46A1-93F5-4067441EA233}" destId="{105E37E4-AC87-4652-A121-D684D3BC29EA}" srcOrd="0" destOrd="0" presId="urn:microsoft.com/office/officeart/2005/8/layout/vList2"/>
    <dgm:cxn modelId="{945372E6-82B8-44B3-A258-FCE3C0470797}" srcId="{2BA5CC33-FC02-4736-BE03-F1D9126949BA}" destId="{707EFB68-DECD-45A7-B6D2-4244E3A8AB96}" srcOrd="2" destOrd="0" parTransId="{0A43AEBB-CE8E-481D-9FB3-F4B4D97BDD03}" sibTransId="{A14D4D1E-93C2-442E-A23F-44B4BCA1E673}"/>
    <dgm:cxn modelId="{E4D55DF2-39AC-437C-BA67-BD31B0230403}" srcId="{2BA5CC33-FC02-4736-BE03-F1D9126949BA}" destId="{3B88B0AD-7F3F-4752-AEBB-5F1A809BA37C}" srcOrd="5" destOrd="0" parTransId="{F317E38B-2EB1-4D4B-9A27-617D51278EAE}" sibTransId="{F46373BD-AAE0-492B-BD3C-6DA34287586A}"/>
    <dgm:cxn modelId="{C702A1FE-5A23-425F-AA4C-4E97EB2920B5}" srcId="{2BA5CC33-FC02-4736-BE03-F1D9126949BA}" destId="{39D829A6-F2DD-4809-864C-457DD1976A04}" srcOrd="0" destOrd="0" parTransId="{695C6BC9-A1C1-411C-BCE2-57A1C7332344}" sibTransId="{1E7D5526-0797-42BC-AA18-134B74C89F57}"/>
    <dgm:cxn modelId="{41F8EB4A-5A1F-4CC1-93F6-EAC5CC87CF86}" type="presParOf" srcId="{439B428B-FDBA-40A2-9D63-12A444FF2032}" destId="{3448A6CD-0C43-44EE-9487-BD5B94B2D2BE}" srcOrd="0" destOrd="0" presId="urn:microsoft.com/office/officeart/2005/8/layout/vList2"/>
    <dgm:cxn modelId="{13ADA958-ABB8-49DA-BF17-456E6169E72B}" type="presParOf" srcId="{439B428B-FDBA-40A2-9D63-12A444FF2032}" destId="{6DA3F015-B9CA-4C8E-A7A5-4514D3F4204A}" srcOrd="1" destOrd="0" presId="urn:microsoft.com/office/officeart/2005/8/layout/vList2"/>
    <dgm:cxn modelId="{CBCDE46B-78C5-4B59-80CA-0661821C4434}" type="presParOf" srcId="{439B428B-FDBA-40A2-9D63-12A444FF2032}" destId="{9F2BB566-C27A-469E-8C31-6D990DC65362}" srcOrd="2" destOrd="0" presId="urn:microsoft.com/office/officeart/2005/8/layout/vList2"/>
    <dgm:cxn modelId="{58BBBFE3-6530-41D1-8FCB-96F84BFE8E3E}" type="presParOf" srcId="{439B428B-FDBA-40A2-9D63-12A444FF2032}" destId="{22367271-2617-4818-AD5F-7524E6BD9758}" srcOrd="3" destOrd="0" presId="urn:microsoft.com/office/officeart/2005/8/layout/vList2"/>
    <dgm:cxn modelId="{CA1CC289-F47A-4F02-A99F-2163D78F0076}" type="presParOf" srcId="{439B428B-FDBA-40A2-9D63-12A444FF2032}" destId="{5ACFDFF9-1B8E-4BAD-B24B-AD7D1F6F7008}" srcOrd="4" destOrd="0" presId="urn:microsoft.com/office/officeart/2005/8/layout/vList2"/>
    <dgm:cxn modelId="{21AEA10B-0BF3-43D2-B2EF-A1C805A24023}" type="presParOf" srcId="{439B428B-FDBA-40A2-9D63-12A444FF2032}" destId="{76EB9FFB-1187-4243-9F27-7D6E0065DBF3}" srcOrd="5" destOrd="0" presId="urn:microsoft.com/office/officeart/2005/8/layout/vList2"/>
    <dgm:cxn modelId="{063ACAD7-269A-4E68-9D23-EF9154A9582F}" type="presParOf" srcId="{439B428B-FDBA-40A2-9D63-12A444FF2032}" destId="{CDAFF379-E5BE-4BE1-AC51-672FF0E12DBE}" srcOrd="6" destOrd="0" presId="urn:microsoft.com/office/officeart/2005/8/layout/vList2"/>
    <dgm:cxn modelId="{18B49DDE-B9E0-44E7-A971-9AD01D1281A4}" type="presParOf" srcId="{439B428B-FDBA-40A2-9D63-12A444FF2032}" destId="{51591482-432A-4665-8133-FC1334877655}" srcOrd="7" destOrd="0" presId="urn:microsoft.com/office/officeart/2005/8/layout/vList2"/>
    <dgm:cxn modelId="{4AFA6AE8-6C4C-4FDB-BA95-5DD059D8452E}" type="presParOf" srcId="{439B428B-FDBA-40A2-9D63-12A444FF2032}" destId="{105E37E4-AC87-4652-A121-D684D3BC29EA}" srcOrd="8" destOrd="0" presId="urn:microsoft.com/office/officeart/2005/8/layout/vList2"/>
    <dgm:cxn modelId="{7922ECCE-F1FB-469F-8F95-D493022D8F1E}" type="presParOf" srcId="{439B428B-FDBA-40A2-9D63-12A444FF2032}" destId="{354207EA-0641-4C74-A569-5980FB287FCF}" srcOrd="9" destOrd="0" presId="urn:microsoft.com/office/officeart/2005/8/layout/vList2"/>
    <dgm:cxn modelId="{C8BD1B7E-26A0-4A1C-9FE3-29E6EF70D585}" type="presParOf" srcId="{439B428B-FDBA-40A2-9D63-12A444FF2032}" destId="{C263D0F9-0545-4096-B6EE-D34EFE4DA3AE}" srcOrd="10" destOrd="0" presId="urn:microsoft.com/office/officeart/2005/8/layout/vList2"/>
    <dgm:cxn modelId="{8E4B6AFF-8F6D-4213-A81B-F85195174E5B}" type="presParOf" srcId="{439B428B-FDBA-40A2-9D63-12A444FF2032}" destId="{BEEA750C-7A62-4409-AF55-34C20BD8F37F}" srcOrd="11" destOrd="0" presId="urn:microsoft.com/office/officeart/2005/8/layout/vList2"/>
    <dgm:cxn modelId="{EBF69861-793E-4A0E-B75F-096DCA2CC9E6}" type="presParOf" srcId="{439B428B-FDBA-40A2-9D63-12A444FF2032}" destId="{8705865C-4CE8-4503-B25C-2035B908D6D3}" srcOrd="12" destOrd="0" presId="urn:microsoft.com/office/officeart/2005/8/layout/vList2"/>
    <dgm:cxn modelId="{A82E359D-9E0D-48B2-BFD4-97ACCF5495A5}" type="presParOf" srcId="{439B428B-FDBA-40A2-9D63-12A444FF2032}" destId="{005F7DE0-ACA8-48C3-93D8-B08750E7004E}" srcOrd="13" destOrd="0" presId="urn:microsoft.com/office/officeart/2005/8/layout/vList2"/>
    <dgm:cxn modelId="{531784BE-14BD-4E9D-8F73-8A36567D8CFB}" type="presParOf" srcId="{439B428B-FDBA-40A2-9D63-12A444FF2032}" destId="{F30A684C-CB1F-4BF0-BAB8-DFE63D514F3C}" srcOrd="14" destOrd="0" presId="urn:microsoft.com/office/officeart/2005/8/layout/vList2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8A6CD-0C43-44EE-9487-BD5B94B2D2BE}">
      <dsp:nvSpPr>
        <dsp:cNvPr id="0" name=""/>
        <dsp:cNvSpPr/>
      </dsp:nvSpPr>
      <dsp:spPr>
        <a:xfrm>
          <a:off x="0" y="70630"/>
          <a:ext cx="53848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strike="noStrike" kern="1200" dirty="0"/>
            <a:t>Design/Engineering </a:t>
          </a:r>
          <a:r>
            <a:rPr lang="en-US" sz="2300" kern="1200" dirty="0"/>
            <a:t>Executive Summary</a:t>
          </a:r>
        </a:p>
      </dsp:txBody>
      <dsp:txXfrm>
        <a:off x="26930" y="97560"/>
        <a:ext cx="5330940" cy="497795"/>
      </dsp:txXfrm>
    </dsp:sp>
    <dsp:sp modelId="{9F2BB566-C27A-469E-8C31-6D990DC65362}">
      <dsp:nvSpPr>
        <dsp:cNvPr id="0" name=""/>
        <dsp:cNvSpPr/>
      </dsp:nvSpPr>
      <dsp:spPr>
        <a:xfrm>
          <a:off x="0" y="706037"/>
          <a:ext cx="53848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Overall Vehicle</a:t>
          </a:r>
        </a:p>
      </dsp:txBody>
      <dsp:txXfrm>
        <a:off x="26930" y="732967"/>
        <a:ext cx="5330940" cy="497795"/>
      </dsp:txXfrm>
    </dsp:sp>
    <dsp:sp modelId="{5ACFDFF9-1B8E-4BAD-B24B-AD7D1F6F7008}">
      <dsp:nvSpPr>
        <dsp:cNvPr id="0" name=""/>
        <dsp:cNvSpPr/>
      </dsp:nvSpPr>
      <dsp:spPr>
        <a:xfrm>
          <a:off x="0" y="1323932"/>
          <a:ext cx="53848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Vehicle Dynamics</a:t>
          </a:r>
        </a:p>
      </dsp:txBody>
      <dsp:txXfrm>
        <a:off x="26930" y="1350862"/>
        <a:ext cx="5330940" cy="497795"/>
      </dsp:txXfrm>
    </dsp:sp>
    <dsp:sp modelId="{CDAFF379-E5BE-4BE1-AC51-672FF0E12DBE}">
      <dsp:nvSpPr>
        <dsp:cNvPr id="0" name=""/>
        <dsp:cNvSpPr/>
      </dsp:nvSpPr>
      <dsp:spPr>
        <a:xfrm>
          <a:off x="0" y="1941827"/>
          <a:ext cx="53848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Aerodynamics</a:t>
          </a:r>
        </a:p>
      </dsp:txBody>
      <dsp:txXfrm>
        <a:off x="26930" y="1968757"/>
        <a:ext cx="5330940" cy="497795"/>
      </dsp:txXfrm>
    </dsp:sp>
    <dsp:sp modelId="{105E37E4-AC87-4652-A121-D684D3BC29EA}">
      <dsp:nvSpPr>
        <dsp:cNvPr id="0" name=""/>
        <dsp:cNvSpPr/>
      </dsp:nvSpPr>
      <dsp:spPr>
        <a:xfrm>
          <a:off x="0" y="2559722"/>
          <a:ext cx="53848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Powertrain</a:t>
          </a:r>
        </a:p>
      </dsp:txBody>
      <dsp:txXfrm>
        <a:off x="26930" y="2586652"/>
        <a:ext cx="5330940" cy="497795"/>
      </dsp:txXfrm>
    </dsp:sp>
    <dsp:sp modelId="{C263D0F9-0545-4096-B6EE-D34EFE4DA3AE}">
      <dsp:nvSpPr>
        <dsp:cNvPr id="0" name=""/>
        <dsp:cNvSpPr/>
      </dsp:nvSpPr>
      <dsp:spPr>
        <a:xfrm>
          <a:off x="0" y="3177617"/>
          <a:ext cx="53848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Chassis</a:t>
          </a:r>
        </a:p>
      </dsp:txBody>
      <dsp:txXfrm>
        <a:off x="26930" y="3204547"/>
        <a:ext cx="5330940" cy="497795"/>
      </dsp:txXfrm>
    </dsp:sp>
    <dsp:sp modelId="{8705865C-4CE8-4503-B25C-2035B908D6D3}">
      <dsp:nvSpPr>
        <dsp:cNvPr id="0" name=""/>
        <dsp:cNvSpPr/>
      </dsp:nvSpPr>
      <dsp:spPr>
        <a:xfrm>
          <a:off x="0" y="3774032"/>
          <a:ext cx="53848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Driver Interface &amp; Brakes</a:t>
          </a:r>
        </a:p>
      </dsp:txBody>
      <dsp:txXfrm>
        <a:off x="26930" y="3800962"/>
        <a:ext cx="5330940" cy="497795"/>
      </dsp:txXfrm>
    </dsp:sp>
    <dsp:sp modelId="{F30A684C-CB1F-4BF0-BAB8-DFE63D514F3C}">
      <dsp:nvSpPr>
        <dsp:cNvPr id="0" name=""/>
        <dsp:cNvSpPr/>
      </dsp:nvSpPr>
      <dsp:spPr>
        <a:xfrm>
          <a:off x="0" y="4395553"/>
          <a:ext cx="53848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Low Voltage Elec. &amp; Data Acquisition</a:t>
          </a:r>
        </a:p>
      </dsp:txBody>
      <dsp:txXfrm>
        <a:off x="26930" y="4422483"/>
        <a:ext cx="5330940" cy="497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3DE051-4E57-CD5D-2EFB-2FCA71B1CE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3BE488-3A1D-4AEE-06CD-A0209E611C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4A09C5-0E5F-491C-8051-73059A1936F0}" type="datetimeFigureOut">
              <a:rPr lang="en-US"/>
              <a:pPr>
                <a:defRPr/>
              </a:pPr>
              <a:t>10/1/2024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67461-F44E-78BF-476F-FE725BF97D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91199-856E-7E03-325A-AEA8BF1878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4D5108C-2FBE-42D6-B853-78E7ED4FA6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AF8475-FB17-3E89-191A-0A8F6BEC2F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62F38-2A8A-AE60-9673-8CA441BF576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2104909-5E83-472F-9FFB-6EC3D645A625}" type="datetimeFigureOut">
              <a:rPr lang="en-US"/>
              <a:pPr>
                <a:defRPr/>
              </a:pPr>
              <a:t>10/1/2024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1D479E3-4EF6-5168-AD9E-7E453B01D1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7B52AA3-9B95-1566-1D9E-7903A7ECC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0"/>
            <a:r>
              <a:rPr lang="en-US" altLang="en-US" noProof="0"/>
              <a:t>Second level</a:t>
            </a:r>
          </a:p>
          <a:p>
            <a:pPr lvl="0"/>
            <a:r>
              <a:rPr lang="en-US" altLang="en-US" noProof="0"/>
              <a:t>Third level</a:t>
            </a:r>
          </a:p>
          <a:p>
            <a:pPr lvl="0"/>
            <a:r>
              <a:rPr lang="en-US" altLang="en-US" noProof="0"/>
              <a:t>Fourth level</a:t>
            </a:r>
          </a:p>
          <a:p>
            <a:pPr lvl="0"/>
            <a:r>
              <a:rPr lang="en-US" alt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47825-52D0-A2D6-B778-B564D60741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137D5-FCA9-DE72-F688-41ED8AC59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9E03197-A547-4E17-82CC-CB2D349C47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5EF08EB1-D326-9010-E394-0D1AA55009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5F350EAE-1FE8-71C9-C04E-30141A8A84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E8582958-4094-87A6-1E4C-967625760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DF402B-69F9-4628-8E48-2E3FAF3F763C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B83FA2C-65E7-C622-0A1A-1808F05623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B203D1A6-B541-B6E7-FC3A-FB58142708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A061A1B9-C5E7-673E-4D47-EE9508718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2BC170B-195F-422D-B741-CF458112C1C4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AE559AAF-F4E5-7EB7-F2A3-0B7DAFBF9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01BB4D26-566B-536E-B2CA-760BBB67E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58F8EC91-4DF7-E961-7481-7370941D7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962517-BB09-446F-B06D-49662A970E1B}" type="slidenum">
              <a:rPr lang="en-US" altLang="en-US" smtClean="0">
                <a:latin typeface="Calibri" panose="020F0502020204030204" pitchFamily="34" charset="0"/>
              </a:rPr>
              <a:pPr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1A4E7865-6511-074C-9F8D-1E053B2D17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3EA764ED-6EF1-396E-6396-C7F8D4A2A9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071AB0F-213C-954B-70B2-68D214EC8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EFF078-6F04-4452-9BC7-78FA507088D9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E03197-A547-4E17-82CC-CB2D349C47E0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7121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89527538-120D-8D4F-1454-C186621503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DC1B946F-F8CF-0600-9AB6-B5BA3720E2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A8B51EB6-27A6-4168-86D7-EF1961717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2E2F294-88FB-4CDA-BEFF-DC50B65CCBAC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004-metal-and-carbon-fiber-pattern-background-texture.jpg">
            <a:extLst>
              <a:ext uri="{FF2B5EF4-FFF2-40B4-BE49-F238E27FC236}">
                <a16:creationId xmlns:a16="http://schemas.microsoft.com/office/drawing/2014/main" id="{30F11BEB-F086-0A87-E3F8-848ECE9FDD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306"/>
          <a:stretch>
            <a:fillRect/>
          </a:stretch>
        </p:blipFill>
        <p:spPr bwMode="auto">
          <a:xfrm>
            <a:off x="0" y="-1588"/>
            <a:ext cx="1219200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00A852-0064-0656-7542-D7D2418A38D2}"/>
              </a:ext>
            </a:extLst>
          </p:cNvPr>
          <p:cNvSpPr/>
          <p:nvPr userDrawn="1"/>
        </p:nvSpPr>
        <p:spPr>
          <a:xfrm>
            <a:off x="0" y="930275"/>
            <a:ext cx="121920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F340857F-6726-DE38-9EC6-B67CA0AC16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85"/>
          <a:stretch>
            <a:fillRect/>
          </a:stretch>
        </p:blipFill>
        <p:spPr bwMode="auto">
          <a:xfrm>
            <a:off x="0" y="0"/>
            <a:ext cx="12252325" cy="694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A46906-2B59-F4FF-C15D-D1627D038167}"/>
              </a:ext>
            </a:extLst>
          </p:cNvPr>
          <p:cNvSpPr/>
          <p:nvPr userDrawn="1"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60E8F9D-1D0E-EC45-9AC9-8F1DC34925F9}"/>
              </a:ext>
            </a:extLst>
          </p:cNvPr>
          <p:cNvSpPr/>
          <p:nvPr userDrawn="1"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9E100-EFA9-8DC3-5D81-9A7EEA0F4989}"/>
              </a:ext>
            </a:extLst>
          </p:cNvPr>
          <p:cNvSpPr/>
          <p:nvPr userDrawn="1"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B401D2F-B351-7297-567C-41197FCB548C}"/>
              </a:ext>
            </a:extLst>
          </p:cNvPr>
          <p:cNvSpPr/>
          <p:nvPr userDrawn="1"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1704"/>
              </a:solidFill>
            </a:endParaRPr>
          </a:p>
        </p:txBody>
      </p:sp>
      <p:sp>
        <p:nvSpPr>
          <p:cNvPr id="9" name="Shape 194">
            <a:extLst>
              <a:ext uri="{FF2B5EF4-FFF2-40B4-BE49-F238E27FC236}">
                <a16:creationId xmlns:a16="http://schemas.microsoft.com/office/drawing/2014/main" id="{D5B60895-2BBF-A749-6D09-7126A3F7F9B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3819525"/>
            <a:ext cx="12252325" cy="1449388"/>
          </a:xfrm>
          <a:prstGeom prst="rect">
            <a:avLst/>
          </a:prstGeom>
          <a:solidFill>
            <a:srgbClr val="FFFFFF">
              <a:alpha val="78822"/>
            </a:srgbClr>
          </a:solidFill>
          <a:ln>
            <a:noFill/>
          </a:ln>
        </p:spPr>
        <p:txBody>
          <a:bodyPr lIns="91425" tIns="45700" rIns="137150" bIns="457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buClr>
                <a:srgbClr val="000000"/>
              </a:buClr>
              <a:buSzPts val="2600"/>
              <a:buFont typeface="Arial" panose="020B0604020202020204" pitchFamily="34" charset="0"/>
              <a:buNone/>
              <a:defRPr/>
            </a:pPr>
            <a:endParaRPr lang="en-US" altLang="en-US" sz="3200" b="1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3F92E7B-D29A-71CF-BBDB-9325ADFC1A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65100"/>
            <a:ext cx="30813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971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004-metal-and-carbon-fiber-pattern-background-texture.jpg">
            <a:extLst>
              <a:ext uri="{FF2B5EF4-FFF2-40B4-BE49-F238E27FC236}">
                <a16:creationId xmlns:a16="http://schemas.microsoft.com/office/drawing/2014/main" id="{1E61EB5A-4140-0887-C479-3E92377B4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306"/>
          <a:stretch>
            <a:fillRect/>
          </a:stretch>
        </p:blipFill>
        <p:spPr bwMode="auto">
          <a:xfrm>
            <a:off x="0" y="-1588"/>
            <a:ext cx="1219200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9B6016-B3F3-CDDB-CEA4-6269DB225A0A}"/>
              </a:ext>
            </a:extLst>
          </p:cNvPr>
          <p:cNvSpPr/>
          <p:nvPr userDrawn="1"/>
        </p:nvSpPr>
        <p:spPr>
          <a:xfrm>
            <a:off x="0" y="930275"/>
            <a:ext cx="121920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895405E-AE6E-EC23-388F-7E6849163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37600" y="6392863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6B6C2-3EDE-4C28-9AE2-2F65E1F87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42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 descr="004-metal-and-carbon-fiber-pattern-background-texture.jpg">
            <a:extLst>
              <a:ext uri="{FF2B5EF4-FFF2-40B4-BE49-F238E27FC236}">
                <a16:creationId xmlns:a16="http://schemas.microsoft.com/office/drawing/2014/main" id="{F11BDD5C-FCD9-E4BD-3B7E-1A3B5F156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306"/>
          <a:stretch>
            <a:fillRect/>
          </a:stretch>
        </p:blipFill>
        <p:spPr bwMode="auto">
          <a:xfrm>
            <a:off x="0" y="-1588"/>
            <a:ext cx="1219200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9772CF-E51A-5E4D-A0D9-9237CBFAE98E}"/>
              </a:ext>
            </a:extLst>
          </p:cNvPr>
          <p:cNvSpPr/>
          <p:nvPr userDrawn="1"/>
        </p:nvSpPr>
        <p:spPr>
          <a:xfrm>
            <a:off x="0" y="930275"/>
            <a:ext cx="121920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73157-5AA1-4656-1E6E-C24B0C530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37600" y="6356350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93D4D-945C-4DC6-9B52-3BFD78D0A3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69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 descr="004-metal-and-carbon-fiber-pattern-background-texture.jpg">
            <a:extLst>
              <a:ext uri="{FF2B5EF4-FFF2-40B4-BE49-F238E27FC236}">
                <a16:creationId xmlns:a16="http://schemas.microsoft.com/office/drawing/2014/main" id="{5C70DC5D-DC72-06BD-3798-0128DD5FC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306"/>
          <a:stretch>
            <a:fillRect/>
          </a:stretch>
        </p:blipFill>
        <p:spPr bwMode="auto">
          <a:xfrm>
            <a:off x="0" y="-1588"/>
            <a:ext cx="1219200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56208B-217C-57B0-EF9C-B46F777BBCE7}"/>
              </a:ext>
            </a:extLst>
          </p:cNvPr>
          <p:cNvSpPr/>
          <p:nvPr userDrawn="1"/>
        </p:nvSpPr>
        <p:spPr>
          <a:xfrm>
            <a:off x="0" y="930275"/>
            <a:ext cx="121920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973D139-39AA-344D-63C0-73D7B17E85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93F3D8-9FD0-4A81-ABBD-A9E71588C6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907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B721FB-B2BE-6BAD-2D30-019784257AA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79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DC571DB-8E40-C4AB-4134-CD00B793B2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196975"/>
            <a:ext cx="1097280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AC6C0-74C2-79C5-521B-B354102CE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66188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0B8C5ED-3538-47FB-A88B-CB7275D048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Perpetua" panose="02020502060401020303" pitchFamily="18" charset="0"/>
          <a:cs typeface="Perpetua" panose="02020502060401020303" pitchFamily="18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Perpetua" panose="02020502060401020303" pitchFamily="18" charset="0"/>
          <a:cs typeface="Perpetua" panose="02020502060401020303" pitchFamily="18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Perpetua" panose="02020502060401020303" pitchFamily="18" charset="0"/>
          <a:cs typeface="Perpetua" panose="02020502060401020303" pitchFamily="18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Perpetua" panose="02020502060401020303" pitchFamily="18" charset="0"/>
          <a:cs typeface="Perpetua" panose="02020502060401020303" pitchFamily="18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Perpetua" panose="02020502060401020303" pitchFamily="18" charset="0"/>
          <a:cs typeface="Perpetua" panose="02020502060401020303" pitchFamily="18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Perpetua" panose="02020502060401020303" pitchFamily="18" charset="0"/>
          <a:cs typeface="Perpetua" panose="02020502060401020303" pitchFamily="18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Perpetua" panose="02020502060401020303" pitchFamily="18" charset="0"/>
          <a:cs typeface="Perpetua" panose="02020502060401020303" pitchFamily="18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Perpetua" panose="02020502060401020303" pitchFamily="18" charset="0"/>
          <a:cs typeface="Perpetua" panose="02020502060401020303" pitchFamily="18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Perpetua" panose="02020502060401020303" pitchFamily="18" charset="0"/>
          <a:cs typeface="Perpetua" panose="02020502060401020303" pitchFamily="18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Perpetua" panose="02020502060401020303" pitchFamily="18" charset="0"/>
          <a:cs typeface="Perpetua" panose="02020502060401020303" pitchFamily="18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j-lt"/>
          <a:ea typeface="Perpetua" panose="02020502060401020303" pitchFamily="18" charset="0"/>
          <a:cs typeface="Perpetua" panose="02020502060401020303" pitchFamily="18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Perpetua" panose="02020502060401020303" pitchFamily="18" charset="0"/>
          <a:cs typeface="Perpetua" panose="02020502060401020303" pitchFamily="18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j-lt"/>
          <a:ea typeface="Perpetua" panose="02020502060401020303" pitchFamily="18" charset="0"/>
          <a:cs typeface="Perpetua" panose="02020502060401020303" pitchFamily="18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j-lt"/>
          <a:ea typeface="Perpetua" panose="02020502060401020303" pitchFamily="18" charset="0"/>
          <a:cs typeface="Perpetua" panose="02020502060401020303" pitchFamily="18" charset="0"/>
        </a:defRPr>
      </a:lvl5pPr>
      <a:lvl6pPr marL="2514632" indent="-228603" algn="l" defTabSz="45720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45720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45720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45720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4572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4572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4572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4572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4572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4572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4572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4572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Photo%20credit:%20https:/www.racecar-engineering.com/cars/herts/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A8_97AA2C9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7C2BAF-DC92-A29F-0C66-6C66E373FE14}"/>
              </a:ext>
            </a:extLst>
          </p:cNvPr>
          <p:cNvSpPr/>
          <p:nvPr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26EB59-CB6B-8AC1-80FA-C6BF8514850B}"/>
              </a:ext>
            </a:extLst>
          </p:cNvPr>
          <p:cNvSpPr/>
          <p:nvPr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566DBB-67A8-5B7C-7E11-9150C2041CC1}"/>
              </a:ext>
            </a:extLst>
          </p:cNvPr>
          <p:cNvSpPr/>
          <p:nvPr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17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439AC0-CBE2-D2F0-557D-2F7280EAE070}"/>
              </a:ext>
            </a:extLst>
          </p:cNvPr>
          <p:cNvSpPr/>
          <p:nvPr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hape 194">
            <a:extLst>
              <a:ext uri="{FF2B5EF4-FFF2-40B4-BE49-F238E27FC236}">
                <a16:creationId xmlns:a16="http://schemas.microsoft.com/office/drawing/2014/main" id="{C008D0E1-28FA-3D35-7EAA-F08BC5C0D9F0}"/>
              </a:ext>
            </a:extLst>
          </p:cNvPr>
          <p:cNvSpPr txBox="1">
            <a:spLocks/>
          </p:cNvSpPr>
          <p:nvPr/>
        </p:nvSpPr>
        <p:spPr>
          <a:xfrm>
            <a:off x="0" y="3819525"/>
            <a:ext cx="12192000" cy="1449388"/>
          </a:xfrm>
          <a:prstGeom prst="rect">
            <a:avLst/>
          </a:prstGeom>
          <a:noFill/>
          <a:ln>
            <a:noFill/>
          </a:ln>
        </p:spPr>
        <p:txBody>
          <a:bodyPr lIns="91425" tIns="45700" rIns="137150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 defTabSz="914411" eaLnBrk="1" fontAlgn="auto" hangingPunct="1">
              <a:spcBef>
                <a:spcPts val="0"/>
              </a:spcBef>
              <a:buClr>
                <a:srgbClr val="000000"/>
              </a:buClr>
              <a:defRPr/>
            </a:pPr>
            <a:endParaRPr lang="en-US" b="1" kern="0" dirty="0">
              <a:solidFill>
                <a:srgbClr val="000000"/>
              </a:solidFill>
            </a:endParaRPr>
          </a:p>
        </p:txBody>
      </p:sp>
      <p:sp>
        <p:nvSpPr>
          <p:cNvPr id="8200" name="Shape 194">
            <a:extLst>
              <a:ext uri="{FF2B5EF4-FFF2-40B4-BE49-F238E27FC236}">
                <a16:creationId xmlns:a16="http://schemas.microsoft.com/office/drawing/2014/main" id="{9D074A8C-D273-5181-C224-897BDA69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19525"/>
            <a:ext cx="12252325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36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Steady State University – Speedville     Car #999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F6CE7C35-A161-0B04-4648-BAE3A14577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500" y="312738"/>
            <a:ext cx="4487863" cy="968375"/>
          </a:xfrm>
        </p:spPr>
        <p:txBody>
          <a:bodyPr/>
          <a:lstStyle/>
          <a:p>
            <a:pPr eaLnBrk="1" hangingPunct="1"/>
            <a:r>
              <a:rPr lang="en-US" altLang="en-US" dirty="0"/>
              <a:t>2025 Design Briefing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302DC6-C538-B8AC-A322-CE1E0C1295ED}"/>
              </a:ext>
            </a:extLst>
          </p:cNvPr>
          <p:cNvSpPr/>
          <p:nvPr/>
        </p:nvSpPr>
        <p:spPr>
          <a:xfrm>
            <a:off x="5235191" y="79080"/>
            <a:ext cx="6883121" cy="35182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This template is for your guidance and ease of assembly.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Blue boxes contain notes and tips from the judges.  You should delete them before submitting your file.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Colors, logos, fonts &amp; background may all be changed to reflect team colors and preferences.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12 point font minimum.  16+ point font preferred.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It is a good idea to include your School Name and Car # on every slide.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The Design Briefing must be submitted in PDF format, under 25Mb and no more than 56 total pages as per FSAE Rules.  Penalties apply for noncompliance.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394D697E-81D5-179B-C48B-86175196F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Table of Contents</a:t>
            </a:r>
          </a:p>
        </p:txBody>
      </p:sp>
      <p:sp>
        <p:nvSpPr>
          <p:cNvPr id="9219" name="Slide Number Placeholder 4">
            <a:extLst>
              <a:ext uri="{FF2B5EF4-FFF2-40B4-BE49-F238E27FC236}">
                <a16:creationId xmlns:a16="http://schemas.microsoft.com/office/drawing/2014/main" id="{5157DA2E-70CC-C33C-07C6-B1B6EE72AA0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09600" y="6356350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DE5BCEF0-250D-4D21-945D-CC6BD39D4DCA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B74B65FF-2CEF-33E2-C12A-2704620652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539374"/>
              </p:ext>
            </p:extLst>
          </p:nvPr>
        </p:nvGraphicFramePr>
        <p:xfrm>
          <a:off x="538770" y="1307403"/>
          <a:ext cx="5384800" cy="5053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3771BBC-D051-474F-03D9-5A99230D0034}"/>
              </a:ext>
            </a:extLst>
          </p:cNvPr>
          <p:cNvSpPr/>
          <p:nvPr/>
        </p:nvSpPr>
        <p:spPr>
          <a:xfrm>
            <a:off x="6157903" y="1399776"/>
            <a:ext cx="5923568" cy="354401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en-US" sz="1600" dirty="0">
                <a:solidFill>
                  <a:schemeClr val="bg1"/>
                </a:solidFill>
              </a:rPr>
              <a:t>The section headings shown at left are required and must be included.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endParaRPr lang="en-US" altLang="en-US" sz="16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en-US" sz="1600" dirty="0">
                <a:solidFill>
                  <a:schemeClr val="bg1"/>
                </a:solidFill>
              </a:rPr>
              <a:t>For each section, the following areas are expected to be addressed: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bg1"/>
                </a:solidFill>
              </a:rPr>
              <a:t> Design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bg1"/>
                </a:solidFill>
              </a:rPr>
              <a:t> Build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bg1"/>
                </a:solidFill>
              </a:rPr>
              <a:t> Testing/Validation/Refinement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bg1"/>
                </a:solidFill>
              </a:rPr>
              <a:t> Understanding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sz="16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Students are encouraged to build out a table of contents, including working hyperlinks within the presentation, if appropriate.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Note:  The Powertrain section will be either IC or EV.  This template applies to both competitions.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259A0F-4814-76B7-BEFD-1195F80491A8}"/>
              </a:ext>
            </a:extLst>
          </p:cNvPr>
          <p:cNvSpPr/>
          <p:nvPr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490EA9-AB77-3BC0-57A8-D7891537DFAF}"/>
              </a:ext>
            </a:extLst>
          </p:cNvPr>
          <p:cNvSpPr/>
          <p:nvPr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22159-0C02-199F-EA88-E741F16436CF}"/>
              </a:ext>
            </a:extLst>
          </p:cNvPr>
          <p:cNvSpPr/>
          <p:nvPr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17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F688B-EFFD-520D-620A-BE089F1798E0}"/>
              </a:ext>
            </a:extLst>
          </p:cNvPr>
          <p:cNvSpPr/>
          <p:nvPr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hape 194">
            <a:extLst>
              <a:ext uri="{FF2B5EF4-FFF2-40B4-BE49-F238E27FC236}">
                <a16:creationId xmlns:a16="http://schemas.microsoft.com/office/drawing/2014/main" id="{67741712-E932-66FD-F4B8-FA51B95B0DED}"/>
              </a:ext>
            </a:extLst>
          </p:cNvPr>
          <p:cNvSpPr txBox="1">
            <a:spLocks/>
          </p:cNvSpPr>
          <p:nvPr/>
        </p:nvSpPr>
        <p:spPr>
          <a:xfrm>
            <a:off x="0" y="3819525"/>
            <a:ext cx="12192000" cy="1449388"/>
          </a:xfrm>
          <a:prstGeom prst="rect">
            <a:avLst/>
          </a:prstGeom>
          <a:noFill/>
          <a:ln>
            <a:noFill/>
          </a:ln>
        </p:spPr>
        <p:txBody>
          <a:bodyPr lIns="91425" tIns="45700" rIns="137150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 defTabSz="914411" eaLnBrk="1" fontAlgn="auto" hangingPunct="1">
              <a:spcBef>
                <a:spcPts val="0"/>
              </a:spcBef>
              <a:buClr>
                <a:srgbClr val="000000"/>
              </a:buClr>
              <a:defRPr/>
            </a:pPr>
            <a:endParaRPr lang="en-US" b="1" kern="0" dirty="0">
              <a:solidFill>
                <a:srgbClr val="000000"/>
              </a:solidFill>
            </a:endParaRPr>
          </a:p>
        </p:txBody>
      </p:sp>
      <p:sp>
        <p:nvSpPr>
          <p:cNvPr id="11271" name="Shape 194">
            <a:extLst>
              <a:ext uri="{FF2B5EF4-FFF2-40B4-BE49-F238E27FC236}">
                <a16:creationId xmlns:a16="http://schemas.microsoft.com/office/drawing/2014/main" id="{C990B49C-F2F7-B732-B028-62D0C0451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19525"/>
            <a:ext cx="12252325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endParaRPr lang="en-US" altLang="en-US" sz="3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73" name="Rectangle 2057">
            <a:extLst>
              <a:ext uri="{FF2B5EF4-FFF2-40B4-BE49-F238E27FC236}">
                <a16:creationId xmlns:a16="http://schemas.microsoft.com/office/drawing/2014/main" id="{F00FD346-F9BA-4363-8AC9-9C4BA7CBC0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800" y="4083050"/>
            <a:ext cx="9167813" cy="957263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Design/Engineering Executive Summary</a:t>
            </a:r>
          </a:p>
        </p:txBody>
      </p:sp>
      <p:sp>
        <p:nvSpPr>
          <p:cNvPr id="3" name="Shape 194">
            <a:extLst>
              <a:ext uri="{FF2B5EF4-FFF2-40B4-BE49-F238E27FC236}">
                <a16:creationId xmlns:a16="http://schemas.microsoft.com/office/drawing/2014/main" id="{1EF76D8D-32E9-BEB8-E8D1-8A4F47F0A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0775" y="3817938"/>
            <a:ext cx="2241550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2 Pages Max</a:t>
            </a:r>
          </a:p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(not including this page)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3C3C082D-2307-3BB1-4EE0-554A40DE2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Executive Summary (1 of 2)</a:t>
            </a:r>
          </a:p>
        </p:txBody>
      </p:sp>
      <p:sp>
        <p:nvSpPr>
          <p:cNvPr id="13315" name="Content Placeholder 3">
            <a:extLst>
              <a:ext uri="{FF2B5EF4-FFF2-40B4-BE49-F238E27FC236}">
                <a16:creationId xmlns:a16="http://schemas.microsoft.com/office/drawing/2014/main" id="{229CE95D-E787-B855-E3A8-4C966E5A9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975"/>
            <a:ext cx="8415338" cy="50847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/>
              <a:t>These topics should be concisely addressed: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z="2400" dirty="0"/>
              <a:t> Recent/relevant team history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z="2400" dirty="0"/>
              <a:t> Team update/status (special circumstances)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z="2400" dirty="0"/>
              <a:t> Team goals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z="2400" dirty="0"/>
              <a:t> Team design/academic philosophy with respect to FSAE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z="2400" dirty="0"/>
              <a:t> Team structure (organization and managerial tools)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z="2400" dirty="0"/>
              <a:t> Vehicle architecture (engine/motor, frame type, tires, etc.)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z="2400" dirty="0"/>
              <a:t> Vehicle highlights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z="2400" dirty="0"/>
              <a:t> “To date” vehicle status (build/testing update)</a:t>
            </a:r>
          </a:p>
        </p:txBody>
      </p:sp>
      <p:sp>
        <p:nvSpPr>
          <p:cNvPr id="13316" name="Slide Number Placeholder 2">
            <a:extLst>
              <a:ext uri="{FF2B5EF4-FFF2-40B4-BE49-F238E27FC236}">
                <a16:creationId xmlns:a16="http://schemas.microsoft.com/office/drawing/2014/main" id="{9FC4B99C-6186-B4BF-EEB4-D8FC3A00E70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9024938" y="6356350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93E205-EBB1-46EC-B0D4-0F703A8576B8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D9EDA-E325-D1A9-E644-3CD659794636}"/>
              </a:ext>
            </a:extLst>
          </p:cNvPr>
          <p:cNvSpPr/>
          <p:nvPr/>
        </p:nvSpPr>
        <p:spPr>
          <a:xfrm>
            <a:off x="8822454" y="1150938"/>
            <a:ext cx="3044110" cy="38933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This section is intended to give the Judges a </a:t>
            </a:r>
            <a:r>
              <a:rPr lang="en-US" altLang="en-US" sz="1600" u="sng" dirty="0">
                <a:solidFill>
                  <a:srgbClr val="FFFFFF"/>
                </a:solidFill>
              </a:rPr>
              <a:t>concise</a:t>
            </a:r>
            <a:r>
              <a:rPr lang="en-US" altLang="en-US" sz="1600" dirty="0">
                <a:solidFill>
                  <a:srgbClr val="FFFFFF"/>
                </a:solidFill>
              </a:rPr>
              <a:t> overview of your team, your approach, and your vehicle.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Like all sections of this Design Briefing, use bullet points, photos, figures, tables, etc.  Sentences and paragraphs do not belong in this format (this is new for 2025).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This is a design executive summary, not a marketing piece.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May be 1 or 2 pages.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>
            <a:extLst>
              <a:ext uri="{FF2B5EF4-FFF2-40B4-BE49-F238E27FC236}">
                <a16:creationId xmlns:a16="http://schemas.microsoft.com/office/drawing/2014/main" id="{601D66B3-F85C-00C9-20CC-40B6B3DA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Executive Summary (2 of 2)</a:t>
            </a:r>
          </a:p>
        </p:txBody>
      </p:sp>
      <p:sp>
        <p:nvSpPr>
          <p:cNvPr id="15363" name="Content Placeholder 4">
            <a:extLst>
              <a:ext uri="{FF2B5EF4-FFF2-40B4-BE49-F238E27FC236}">
                <a16:creationId xmlns:a16="http://schemas.microsoft.com/office/drawing/2014/main" id="{85D7E2C6-315A-5779-C965-CC0DC25DD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112000"/>
              </a:lnSpc>
              <a:spcBef>
                <a:spcPct val="0"/>
              </a:spcBef>
              <a:spcAft>
                <a:spcPts val="1025"/>
              </a:spcAft>
              <a:buFont typeface="Arial" panose="020B0604020202020204" pitchFamily="34" charset="0"/>
              <a:buNone/>
            </a:pPr>
            <a:endParaRPr lang="en-US" alt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5365" name="Slide Number Placeholder 1">
            <a:extLst>
              <a:ext uri="{FF2B5EF4-FFF2-40B4-BE49-F238E27FC236}">
                <a16:creationId xmlns:a16="http://schemas.microsoft.com/office/drawing/2014/main" id="{3DAA0124-FFB7-B577-6A91-E0278311752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A674E5-5A1D-4716-AEE0-EC764E75A7B3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F1796E-9237-8D26-81D5-33BA0890DBEC}"/>
              </a:ext>
            </a:extLst>
          </p:cNvPr>
          <p:cNvSpPr/>
          <p:nvPr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5E9A04-78CE-2EF0-6777-865D506BB2D0}"/>
              </a:ext>
            </a:extLst>
          </p:cNvPr>
          <p:cNvSpPr/>
          <p:nvPr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FDC6F9-F93D-80B8-BA04-3E6BCD0CA2FE}"/>
              </a:ext>
            </a:extLst>
          </p:cNvPr>
          <p:cNvSpPr/>
          <p:nvPr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17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1FACF1-E390-2658-0345-7BDED9F19C12}"/>
              </a:ext>
            </a:extLst>
          </p:cNvPr>
          <p:cNvSpPr/>
          <p:nvPr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hape 194">
            <a:extLst>
              <a:ext uri="{FF2B5EF4-FFF2-40B4-BE49-F238E27FC236}">
                <a16:creationId xmlns:a16="http://schemas.microsoft.com/office/drawing/2014/main" id="{AB4ABE96-D8BE-9956-6178-86FD307F7835}"/>
              </a:ext>
            </a:extLst>
          </p:cNvPr>
          <p:cNvSpPr txBox="1">
            <a:spLocks/>
          </p:cNvSpPr>
          <p:nvPr/>
        </p:nvSpPr>
        <p:spPr>
          <a:xfrm>
            <a:off x="0" y="3819525"/>
            <a:ext cx="12192000" cy="1449388"/>
          </a:xfrm>
          <a:prstGeom prst="rect">
            <a:avLst/>
          </a:prstGeom>
          <a:noFill/>
          <a:ln>
            <a:noFill/>
          </a:ln>
        </p:spPr>
        <p:txBody>
          <a:bodyPr lIns="91425" tIns="45700" rIns="137150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 defTabSz="914411" eaLnBrk="1" fontAlgn="auto" hangingPunct="1">
              <a:spcBef>
                <a:spcPts val="0"/>
              </a:spcBef>
              <a:buClr>
                <a:srgbClr val="000000"/>
              </a:buClr>
              <a:defRPr/>
            </a:pPr>
            <a:endParaRPr lang="en-US" b="1" kern="0" dirty="0">
              <a:solidFill>
                <a:srgbClr val="000000"/>
              </a:solidFill>
            </a:endParaRPr>
          </a:p>
        </p:txBody>
      </p:sp>
      <p:sp>
        <p:nvSpPr>
          <p:cNvPr id="16392" name="Shape 194">
            <a:extLst>
              <a:ext uri="{FF2B5EF4-FFF2-40B4-BE49-F238E27FC236}">
                <a16:creationId xmlns:a16="http://schemas.microsoft.com/office/drawing/2014/main" id="{B0B9C40F-606E-A277-CBE1-12DB25238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0775" y="3817938"/>
            <a:ext cx="2241550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8 Pages Max</a:t>
            </a:r>
          </a:p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(not including this page)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A4C6C9AF-A4AC-EB2D-58F9-84633B336D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2250" y="3984625"/>
            <a:ext cx="3824288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Overall Vehicle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D7A79A-BD85-3835-89CD-0DC9B82242F9}"/>
              </a:ext>
            </a:extLst>
          </p:cNvPr>
          <p:cNvSpPr/>
          <p:nvPr/>
        </p:nvSpPr>
        <p:spPr>
          <a:xfrm>
            <a:off x="5526593" y="3903662"/>
            <a:ext cx="3965071" cy="20449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See the Design Event Scoresheet on fsaeonline.com for a list of topics relevant to this category.</a:t>
            </a:r>
          </a:p>
          <a:p>
            <a:pPr algn="ctr"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Remember:  This is a Design Briefing.  The “Why” is as important as the “What”.  Specifications should be accompanied by rationale.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40B4D49B-7CDB-15AE-508C-27455997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Overall Vehicle – Vehicle Description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5BAD4227-0213-9635-90F8-664CAB0CB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z="2000" dirty="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C90F5C46-321B-4E04-E796-3F7D852B53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1CDDAC-E246-4E05-9F53-E6A8989053E8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DCADB0-E01D-46E0-7A46-DB5C3F0D0CFB}"/>
              </a:ext>
            </a:extLst>
          </p:cNvPr>
          <p:cNvSpPr/>
          <p:nvPr/>
        </p:nvSpPr>
        <p:spPr>
          <a:xfrm>
            <a:off x="8420100" y="481013"/>
            <a:ext cx="3256085" cy="21256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This page is required.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Include key parameters and goals you want the judges to know.  This helps put your design into context.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Should include targets if different than actuals.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2947E495-D6EE-31DF-C104-4B2E8690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Overall Vehicle – Vehicle Views</a:t>
            </a:r>
          </a:p>
        </p:txBody>
      </p:sp>
      <p:sp>
        <p:nvSpPr>
          <p:cNvPr id="21507" name="Slide Number Placeholder 2">
            <a:extLst>
              <a:ext uri="{FF2B5EF4-FFF2-40B4-BE49-F238E27FC236}">
                <a16:creationId xmlns:a16="http://schemas.microsoft.com/office/drawing/2014/main" id="{586F3C22-0BAE-E250-837C-C134AC0BCC0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C30F0E-350B-4B90-84C2-A985CCF7CF25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21508" name="Content Placeholder 2">
            <a:extLst>
              <a:ext uri="{FF2B5EF4-FFF2-40B4-BE49-F238E27FC236}">
                <a16:creationId xmlns:a16="http://schemas.microsoft.com/office/drawing/2014/main" id="{0DDC85C8-B43D-84D3-63E3-42983960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51313D-12D8-D61D-2C68-865AA658A8AC}"/>
              </a:ext>
            </a:extLst>
          </p:cNvPr>
          <p:cNvSpPr/>
          <p:nvPr/>
        </p:nvSpPr>
        <p:spPr>
          <a:xfrm>
            <a:off x="8099234" y="494011"/>
            <a:ext cx="3279775" cy="24501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This page is required.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Show your car.  CAD, Photograph, Drawings are all permitted, whatever you think best portrays information.  </a:t>
            </a:r>
          </a:p>
          <a:p>
            <a:pPr algn="ctr"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This page does not need to follow guidelines of the 3View Drawing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DA93197C-EC94-0F65-6E03-A563A1AA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Overall Vehicle – Points Goal 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8EC92B7D-0220-89C2-B0DA-EFA2A4D2F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8374" y="1196975"/>
            <a:ext cx="7764026" cy="5084763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Your text here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656E52A-F1E2-09E1-93D8-D71E3233B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559888"/>
              </p:ext>
            </p:extLst>
          </p:nvPr>
        </p:nvGraphicFramePr>
        <p:xfrm>
          <a:off x="609600" y="1532796"/>
          <a:ext cx="2927350" cy="3792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74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Points Goal by Event</a:t>
                      </a:r>
                    </a:p>
                  </a:txBody>
                  <a:tcPr marL="68578" marR="68578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5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71">
                <a:tc>
                  <a:txBody>
                    <a:bodyPr/>
                    <a:lstStyle/>
                    <a:p>
                      <a:pPr marL="0" marR="0" lvl="0" indent="0" algn="ctr" defTabSz="457206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Acceleration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Skidpad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Autocross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Endurance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Efficiency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Overall: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614" name="Slide Number Placeholder 3">
            <a:extLst>
              <a:ext uri="{FF2B5EF4-FFF2-40B4-BE49-F238E27FC236}">
                <a16:creationId xmlns:a16="http://schemas.microsoft.com/office/drawing/2014/main" id="{43B3D60D-CCF9-39AE-836F-C86B1CAADF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96CE56-8D39-4A01-B62D-11D73BDF2E42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C0371A-C905-1DD2-33EA-B167147A8D09}"/>
              </a:ext>
            </a:extLst>
          </p:cNvPr>
          <p:cNvSpPr/>
          <p:nvPr/>
        </p:nvSpPr>
        <p:spPr>
          <a:xfrm>
            <a:off x="8302625" y="517897"/>
            <a:ext cx="3279775" cy="17731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This page is required.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How do you expect to score in each event and why?  How did you determine these targets (simulation, statistics or other methods)?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2">
            <a:extLst>
              <a:ext uri="{FF2B5EF4-FFF2-40B4-BE49-F238E27FC236}">
                <a16:creationId xmlns:a16="http://schemas.microsoft.com/office/drawing/2014/main" id="{9D5C6A29-6AD1-98C5-67A3-7405CDDDD933}"/>
              </a:ext>
            </a:extLst>
          </p:cNvPr>
          <p:cNvGrpSpPr>
            <a:grpSpLocks/>
          </p:cNvGrpSpPr>
          <p:nvPr/>
        </p:nvGrpSpPr>
        <p:grpSpPr bwMode="auto">
          <a:xfrm>
            <a:off x="9699625" y="1150938"/>
            <a:ext cx="2492375" cy="3941762"/>
            <a:chOff x="9699143" y="1150938"/>
            <a:chExt cx="2492857" cy="394199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FF37EA0-E58C-4E2F-8536-BE239FDB3C27}"/>
                </a:ext>
              </a:extLst>
            </p:cNvPr>
            <p:cNvSpPr/>
            <p:nvPr/>
          </p:nvSpPr>
          <p:spPr>
            <a:xfrm>
              <a:off x="9699143" y="1150938"/>
              <a:ext cx="2299145" cy="39419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8218" name="Picture 3">
              <a:extLst>
                <a:ext uri="{FF2B5EF4-FFF2-40B4-BE49-F238E27FC236}">
                  <a16:creationId xmlns:a16="http://schemas.microsoft.com/office/drawing/2014/main" id="{827DBC55-B155-803A-A6B7-7059E3192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9490407" y="1890832"/>
              <a:ext cx="3087535" cy="2315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5" name="Title 1">
            <a:extLst>
              <a:ext uri="{FF2B5EF4-FFF2-40B4-BE49-F238E27FC236}">
                <a16:creationId xmlns:a16="http://schemas.microsoft.com/office/drawing/2014/main" id="{A30AEA00-5365-8138-27A8-0BD9049B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Design Overview – Mass Breakdown </a:t>
            </a:r>
          </a:p>
        </p:txBody>
      </p:sp>
      <p:sp>
        <p:nvSpPr>
          <p:cNvPr id="8196" name="Content Placeholder 2">
            <a:extLst>
              <a:ext uri="{FF2B5EF4-FFF2-40B4-BE49-F238E27FC236}">
                <a16:creationId xmlns:a16="http://schemas.microsoft.com/office/drawing/2014/main" id="{E8683226-35A3-2291-0BFA-7798FAD2B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975"/>
            <a:ext cx="5208396" cy="274478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400" dirty="0"/>
              <a:t>Noteworthy comments on mass</a:t>
            </a:r>
          </a:p>
        </p:txBody>
      </p:sp>
      <p:sp>
        <p:nvSpPr>
          <p:cNvPr id="8197" name="Slide Number Placeholder 3">
            <a:extLst>
              <a:ext uri="{FF2B5EF4-FFF2-40B4-BE49-F238E27FC236}">
                <a16:creationId xmlns:a16="http://schemas.microsoft.com/office/drawing/2014/main" id="{2715BCAB-A541-F186-BF8A-E73F3D180F4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9F0E81-902A-4F4B-91D4-0FC64F07B259}" type="slidenum">
              <a:rPr lang="en-US" altLang="en-US" sz="120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6D293-80BA-4E35-BD36-6C0BC635D307}"/>
              </a:ext>
            </a:extLst>
          </p:cNvPr>
          <p:cNvSpPr txBox="1"/>
          <p:nvPr/>
        </p:nvSpPr>
        <p:spPr>
          <a:xfrm>
            <a:off x="10363200" y="1163638"/>
            <a:ext cx="141446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+mj-lt"/>
              </a:rPr>
              <a:t>42% Front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163BD-0085-4FAA-9FA3-5D356D81165E}"/>
              </a:ext>
            </a:extLst>
          </p:cNvPr>
          <p:cNvSpPr txBox="1"/>
          <p:nvPr/>
        </p:nvSpPr>
        <p:spPr>
          <a:xfrm>
            <a:off x="9699625" y="2814638"/>
            <a:ext cx="812800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j-lt"/>
              </a:rPr>
              <a:t>42%</a:t>
            </a:r>
          </a:p>
          <a:p>
            <a:pPr>
              <a:defRPr/>
            </a:pPr>
            <a:r>
              <a:rPr lang="en-US" dirty="0">
                <a:latin typeface="+mj-lt"/>
              </a:rPr>
              <a:t>Left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3D6D9-68F2-4333-B44D-92730F5ABA2C}"/>
              </a:ext>
            </a:extLst>
          </p:cNvPr>
          <p:cNvSpPr txBox="1"/>
          <p:nvPr/>
        </p:nvSpPr>
        <p:spPr>
          <a:xfrm>
            <a:off x="9805501" y="4564063"/>
            <a:ext cx="197216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latin typeface="+mj-lt"/>
              </a:rPr>
              <a:t>999.9 kg with driver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2CEFF5-683D-4740-B11C-2AB2AD1E7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163638"/>
            <a:ext cx="3586163" cy="3341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203" name="TextBox 14">
            <a:extLst>
              <a:ext uri="{FF2B5EF4-FFF2-40B4-BE49-F238E27FC236}">
                <a16:creationId xmlns:a16="http://schemas.microsoft.com/office/drawing/2014/main" id="{155AA72E-5EB0-ED68-3BD8-7FF87A8FC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4564063"/>
            <a:ext cx="3586163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System breakdown of masses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CA201F-ABB7-C5D6-8A24-26CF3AE5F55A}"/>
              </a:ext>
            </a:extLst>
          </p:cNvPr>
          <p:cNvGrpSpPr/>
          <p:nvPr/>
        </p:nvGrpSpPr>
        <p:grpSpPr>
          <a:xfrm>
            <a:off x="9805501" y="60830"/>
            <a:ext cx="2059853" cy="876161"/>
            <a:chOff x="9875837" y="20638"/>
            <a:chExt cx="2059853" cy="87616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6E317B-E0B3-438B-BB56-719AFE840B34}"/>
                </a:ext>
              </a:extLst>
            </p:cNvPr>
            <p:cNvSpPr txBox="1"/>
            <p:nvPr/>
          </p:nvSpPr>
          <p:spPr>
            <a:xfrm>
              <a:off x="9875837" y="188913"/>
              <a:ext cx="2057400" cy="707886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4000" dirty="0">
                  <a:solidFill>
                    <a:schemeClr val="bg1"/>
                  </a:solidFill>
                  <a:latin typeface="+mj-lt"/>
                </a:rPr>
                <a:t>931.9 kg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F3B5B7-B654-47B7-9844-D0E566E93839}"/>
                </a:ext>
              </a:extLst>
            </p:cNvPr>
            <p:cNvSpPr/>
            <p:nvPr/>
          </p:nvSpPr>
          <p:spPr>
            <a:xfrm>
              <a:off x="9878290" y="20638"/>
              <a:ext cx="2057400" cy="2506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alpha val="91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en-US" sz="1600" dirty="0"/>
                <a:t>Mass without driver:</a:t>
              </a:r>
            </a:p>
          </p:txBody>
        </p:sp>
      </p:grpSp>
      <p:grpSp>
        <p:nvGrpSpPr>
          <p:cNvPr id="8207" name="Group 20">
            <a:extLst>
              <a:ext uri="{FF2B5EF4-FFF2-40B4-BE49-F238E27FC236}">
                <a16:creationId xmlns:a16="http://schemas.microsoft.com/office/drawing/2014/main" id="{6350B093-5FF7-6E83-13EB-4877C7006015}"/>
              </a:ext>
            </a:extLst>
          </p:cNvPr>
          <p:cNvGrpSpPr>
            <a:grpSpLocks/>
          </p:cNvGrpSpPr>
          <p:nvPr/>
        </p:nvGrpSpPr>
        <p:grpSpPr bwMode="auto">
          <a:xfrm>
            <a:off x="144463" y="4214813"/>
            <a:ext cx="6096000" cy="2543175"/>
            <a:chOff x="0" y="0"/>
            <a:chExt cx="6096000" cy="2543175"/>
          </a:xfrm>
        </p:grpSpPr>
        <p:pic>
          <p:nvPicPr>
            <p:cNvPr id="8210" name="Picture 21" descr="https://www.racecar-engineering.com/wp-content/uploads/2012/06/FS-UHRacing-Side1.jpg">
              <a:extLst>
                <a:ext uri="{FF2B5EF4-FFF2-40B4-BE49-F238E27FC236}">
                  <a16:creationId xmlns:a16="http://schemas.microsoft.com/office/drawing/2014/main" id="{1D8EB018-C9A4-7AF8-11C6-FB869AB831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0" y="0"/>
              <a:ext cx="6096000" cy="2543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644D854-574E-4FBD-9F1A-795975B3428F}"/>
                </a:ext>
              </a:extLst>
            </p:cNvPr>
            <p:cNvSpPr/>
            <p:nvPr/>
          </p:nvSpPr>
          <p:spPr>
            <a:xfrm>
              <a:off x="2262187" y="1257300"/>
              <a:ext cx="685800" cy="6858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E120D79-199D-4032-82DF-FDCBED57C30E}"/>
                </a:ext>
              </a:extLst>
            </p:cNvPr>
            <p:cNvSpPr/>
            <p:nvPr/>
          </p:nvSpPr>
          <p:spPr>
            <a:xfrm>
              <a:off x="5024437" y="1733550"/>
              <a:ext cx="182563" cy="18256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5E640E3-CB20-4C1D-9988-01EA63FDFF04}"/>
                </a:ext>
              </a:extLst>
            </p:cNvPr>
            <p:cNvSpPr/>
            <p:nvPr/>
          </p:nvSpPr>
          <p:spPr>
            <a:xfrm>
              <a:off x="1485900" y="1285875"/>
              <a:ext cx="274637" cy="27463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AB1DCB-F3B0-4E99-93E5-1053A325D9D1}"/>
                </a:ext>
              </a:extLst>
            </p:cNvPr>
            <p:cNvSpPr/>
            <p:nvPr/>
          </p:nvSpPr>
          <p:spPr>
            <a:xfrm>
              <a:off x="1709737" y="1943100"/>
              <a:ext cx="182563" cy="18256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ABF6E5E-42C8-42F3-AA46-500AEAC34D69}"/>
                </a:ext>
              </a:extLst>
            </p:cNvPr>
            <p:cNvSpPr/>
            <p:nvPr/>
          </p:nvSpPr>
          <p:spPr>
            <a:xfrm>
              <a:off x="4067175" y="1219200"/>
              <a:ext cx="182562" cy="18256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95DF06F-36A9-4D80-ABC6-190C27AD884C}"/>
                </a:ext>
              </a:extLst>
            </p:cNvPr>
            <p:cNvSpPr/>
            <p:nvPr/>
          </p:nvSpPr>
          <p:spPr>
            <a:xfrm>
              <a:off x="1071562" y="1543050"/>
              <a:ext cx="182563" cy="18256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</p:grpSp>
      <p:sp>
        <p:nvSpPr>
          <p:cNvPr id="8209" name="Rectangle 2">
            <a:extLst>
              <a:ext uri="{FF2B5EF4-FFF2-40B4-BE49-F238E27FC236}">
                <a16:creationId xmlns:a16="http://schemas.microsoft.com/office/drawing/2014/main" id="{545596A8-1B18-12CD-0CD2-BC2CCD22E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8" y="6430963"/>
            <a:ext cx="33401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hlinkClick r:id="rId6"/>
              </a:rPr>
              <a:t>Photo credit: https://www.racecar-engineering.com/cars/herts/</a:t>
            </a:r>
            <a:endParaRPr lang="en-US" altLang="en-US" sz="9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74A576-C4E8-1D03-19A6-9BE88A7EB374}"/>
              </a:ext>
            </a:extLst>
          </p:cNvPr>
          <p:cNvGrpSpPr/>
          <p:nvPr/>
        </p:nvGrpSpPr>
        <p:grpSpPr>
          <a:xfrm>
            <a:off x="8066662" y="4863880"/>
            <a:ext cx="4078725" cy="1892520"/>
            <a:chOff x="8066662" y="4863880"/>
            <a:chExt cx="4078725" cy="189252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522298-B3D2-41A2-91EC-83D6C421BE8D}"/>
                </a:ext>
              </a:extLst>
            </p:cNvPr>
            <p:cNvSpPr/>
            <p:nvPr/>
          </p:nvSpPr>
          <p:spPr>
            <a:xfrm>
              <a:off x="8066662" y="5283199"/>
              <a:ext cx="4078725" cy="147320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600" dirty="0">
                  <a:solidFill>
                    <a:srgbClr val="FFFFFF"/>
                  </a:solidFill>
                </a:rPr>
                <a:t>Mass is vehicle mass ready-to-race w/driver mass used in calculations</a:t>
              </a:r>
            </a:p>
            <a:p>
              <a:pPr eaLnBrk="1" hangingPunct="1">
                <a:defRPr/>
              </a:pPr>
              <a:r>
                <a:rPr lang="en-US" altLang="en-US" sz="1600" dirty="0">
                  <a:solidFill>
                    <a:srgbClr val="FFFFFF"/>
                  </a:solidFill>
                </a:rPr>
                <a:t>%Front is percent of mass on front with driver</a:t>
              </a:r>
            </a:p>
            <a:p>
              <a:pPr eaLnBrk="1" hangingPunct="1">
                <a:defRPr/>
              </a:pPr>
              <a:r>
                <a:rPr lang="en-US" altLang="en-US" sz="1600" dirty="0">
                  <a:solidFill>
                    <a:srgbClr val="FFFFFF"/>
                  </a:solidFill>
                </a:rPr>
                <a:t>%Left is percent of mass on left with driver</a:t>
              </a:r>
            </a:p>
            <a:p>
              <a:pPr eaLnBrk="1" hangingPunct="1">
                <a:defRPr/>
              </a:pPr>
              <a:r>
                <a:rPr lang="en-US" altLang="en-US" sz="1600" dirty="0">
                  <a:solidFill>
                    <a:srgbClr val="FFFFFF"/>
                  </a:solidFill>
                </a:rPr>
                <a:t>Replace image with your own, if desired.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68201EF-4900-8B17-0A7B-9157C7102DBC}"/>
                </a:ext>
              </a:extLst>
            </p:cNvPr>
            <p:cNvSpPr/>
            <p:nvPr/>
          </p:nvSpPr>
          <p:spPr>
            <a:xfrm rot="18053362">
              <a:off x="9469682" y="4876583"/>
              <a:ext cx="536498" cy="511092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A86AD85-5524-42A4-AC14-6FF51CEF4FB0}"/>
              </a:ext>
            </a:extLst>
          </p:cNvPr>
          <p:cNvSpPr/>
          <p:nvPr/>
        </p:nvSpPr>
        <p:spPr>
          <a:xfrm>
            <a:off x="2177772" y="2130707"/>
            <a:ext cx="5059363" cy="30302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This page is required.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Required elements:  Pie chart of mass breakdown, mass without driver (box in upper right) and percentages with driver (% Front and % Left)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Recommended, but not required, to use the design score sheet system breakdown for pie chart categories.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Side view ‘bubble diagram’ showing center of gravity of heaviest components (optional, not required).  Bubble size proportional to mass of item.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5ACB9421-C272-D857-664E-62A001B6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Overall Vehicle (5 of 8)</a:t>
            </a:r>
          </a:p>
        </p:txBody>
      </p:sp>
      <p:sp>
        <p:nvSpPr>
          <p:cNvPr id="22531" name="Slide Number Placeholder 4">
            <a:extLst>
              <a:ext uri="{FF2B5EF4-FFF2-40B4-BE49-F238E27FC236}">
                <a16:creationId xmlns:a16="http://schemas.microsoft.com/office/drawing/2014/main" id="{EADB0401-10C5-D023-9E7A-18983D55B4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C6E411-4AAF-4366-A72C-FA30FA8C904D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22533" name="Content Placeholder 2">
            <a:extLst>
              <a:ext uri="{FF2B5EF4-FFF2-40B4-BE49-F238E27FC236}">
                <a16:creationId xmlns:a16="http://schemas.microsoft.com/office/drawing/2014/main" id="{7BDEB07A-C10E-97D4-318C-DAF976A64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5C613D-23F4-3A7A-48F8-EBB7D014327B}"/>
              </a:ext>
            </a:extLst>
          </p:cNvPr>
          <p:cNvSpPr/>
          <p:nvPr/>
        </p:nvSpPr>
        <p:spPr>
          <a:xfrm>
            <a:off x="7887957" y="734159"/>
            <a:ext cx="3891834" cy="35464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Four more slides are permitted in this section.  Use them to show how you approached the Overall Vehicle topics listed on the Design Event Scoresheet (available on fsaeoneline.com).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You are strongly encouraged to show your organizational chart and your timeline.  List specific milestones, including first drive.</a:t>
            </a:r>
          </a:p>
          <a:p>
            <a:pPr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Determination of subsystem design specs (goals and tradeoffs) from a whole-vehicle perspective are relevant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A36BB9-30AF-7E59-0C95-3290356FD4B3}"/>
              </a:ext>
            </a:extLst>
          </p:cNvPr>
          <p:cNvSpPr/>
          <p:nvPr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E42FB-89E2-4AF4-18DA-1B285E2E7D15}"/>
              </a:ext>
            </a:extLst>
          </p:cNvPr>
          <p:cNvSpPr/>
          <p:nvPr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6D5B6-8729-6BF5-9C01-EFEF71539FEF}"/>
              </a:ext>
            </a:extLst>
          </p:cNvPr>
          <p:cNvSpPr/>
          <p:nvPr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17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0FA10-140E-5DE7-39EF-D91F43319D94}"/>
              </a:ext>
            </a:extLst>
          </p:cNvPr>
          <p:cNvSpPr/>
          <p:nvPr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hape 194">
            <a:extLst>
              <a:ext uri="{FF2B5EF4-FFF2-40B4-BE49-F238E27FC236}">
                <a16:creationId xmlns:a16="http://schemas.microsoft.com/office/drawing/2014/main" id="{BFC11E5B-EAD7-AAB1-847D-FA6AB959EF12}"/>
              </a:ext>
            </a:extLst>
          </p:cNvPr>
          <p:cNvSpPr txBox="1">
            <a:spLocks/>
          </p:cNvSpPr>
          <p:nvPr/>
        </p:nvSpPr>
        <p:spPr>
          <a:xfrm>
            <a:off x="0" y="3819525"/>
            <a:ext cx="12192000" cy="1449388"/>
          </a:xfrm>
          <a:prstGeom prst="rect">
            <a:avLst/>
          </a:prstGeom>
          <a:noFill/>
          <a:ln>
            <a:noFill/>
          </a:ln>
        </p:spPr>
        <p:txBody>
          <a:bodyPr lIns="91425" tIns="45700" rIns="137150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 defTabSz="914411" eaLnBrk="1" fontAlgn="auto" hangingPunct="1">
              <a:spcBef>
                <a:spcPts val="0"/>
              </a:spcBef>
              <a:buClr>
                <a:srgbClr val="000000"/>
              </a:buClr>
              <a:defRPr/>
            </a:pPr>
            <a:endParaRPr lang="en-US" b="1" kern="0" dirty="0">
              <a:solidFill>
                <a:srgbClr val="000000"/>
              </a:solidFill>
            </a:endParaRPr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E272AC7A-EB06-1E4D-1C71-8045563EC1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950" y="3944938"/>
            <a:ext cx="47879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Vehicle Dynamics</a:t>
            </a:r>
          </a:p>
        </p:txBody>
      </p:sp>
      <p:sp>
        <p:nvSpPr>
          <p:cNvPr id="3" name="Shape 194">
            <a:extLst>
              <a:ext uri="{FF2B5EF4-FFF2-40B4-BE49-F238E27FC236}">
                <a16:creationId xmlns:a16="http://schemas.microsoft.com/office/drawing/2014/main" id="{14EE3E08-F66C-1BC6-35B6-9CA7BB69E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0775" y="3817938"/>
            <a:ext cx="2241550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6 Pages Max</a:t>
            </a:r>
          </a:p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(not including this page)</a:t>
            </a:r>
          </a:p>
        </p:txBody>
      </p:sp>
    </p:spTree>
    <p:extLst>
      <p:ext uri="{BB962C8B-B14F-4D97-AF65-F5344CB8AC3E}">
        <p14:creationId xmlns:p14="http://schemas.microsoft.com/office/powerpoint/2010/main" val="124198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3">
            <a:extLst>
              <a:ext uri="{FF2B5EF4-FFF2-40B4-BE49-F238E27FC236}">
                <a16:creationId xmlns:a16="http://schemas.microsoft.com/office/drawing/2014/main" id="{D7A9A189-C4E4-C7D4-59C2-B21840A8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Vehicle Dynamics (page 1 of 6)</a:t>
            </a:r>
          </a:p>
        </p:txBody>
      </p:sp>
      <p:sp>
        <p:nvSpPr>
          <p:cNvPr id="36867" name="Slide Number Placeholder 1">
            <a:extLst>
              <a:ext uri="{FF2B5EF4-FFF2-40B4-BE49-F238E27FC236}">
                <a16:creationId xmlns:a16="http://schemas.microsoft.com/office/drawing/2014/main" id="{9F6CB4BF-873E-4E71-06E9-8873E759C6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14A79D-B1C4-4FC1-A2A7-0B1BDDC5B066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36868" name="Content Placeholder 4">
            <a:extLst>
              <a:ext uri="{FF2B5EF4-FFF2-40B4-BE49-F238E27FC236}">
                <a16:creationId xmlns:a16="http://schemas.microsoft.com/office/drawing/2014/main" id="{0859F347-BAD8-ACC0-7360-BB453016091C}"/>
              </a:ext>
            </a:extLst>
          </p:cNvPr>
          <p:cNvSpPr>
            <a:spLocks/>
          </p:cNvSpPr>
          <p:nvPr/>
        </p:nvSpPr>
        <p:spPr bwMode="auto">
          <a:xfrm>
            <a:off x="609600" y="1196975"/>
            <a:ext cx="1097280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6858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Your text here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D5CBA6-6CF9-7D0B-6335-B776144FAA7A}"/>
              </a:ext>
            </a:extLst>
          </p:cNvPr>
          <p:cNvSpPr/>
          <p:nvPr/>
        </p:nvSpPr>
        <p:spPr>
          <a:xfrm>
            <a:off x="7617329" y="376691"/>
            <a:ext cx="3965071" cy="20449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See the Design Event Scoresheet on fsaeonline.com for a list of topics relevant to this category.</a:t>
            </a:r>
          </a:p>
          <a:p>
            <a:pPr algn="ctr"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Remember:  This is a Design Briefing.  The “Why” is as important as the “What”.  Specifications should be accompanied by rationale.</a:t>
            </a:r>
          </a:p>
        </p:txBody>
      </p:sp>
    </p:spTree>
    <p:extLst>
      <p:ext uri="{BB962C8B-B14F-4D97-AF65-F5344CB8AC3E}">
        <p14:creationId xmlns:p14="http://schemas.microsoft.com/office/powerpoint/2010/main" val="25445121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A36BB9-30AF-7E59-0C95-3290356FD4B3}"/>
              </a:ext>
            </a:extLst>
          </p:cNvPr>
          <p:cNvSpPr/>
          <p:nvPr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E42FB-89E2-4AF4-18DA-1B285E2E7D15}"/>
              </a:ext>
            </a:extLst>
          </p:cNvPr>
          <p:cNvSpPr/>
          <p:nvPr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6D5B6-8729-6BF5-9C01-EFEF71539FEF}"/>
              </a:ext>
            </a:extLst>
          </p:cNvPr>
          <p:cNvSpPr/>
          <p:nvPr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17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0FA10-140E-5DE7-39EF-D91F43319D94}"/>
              </a:ext>
            </a:extLst>
          </p:cNvPr>
          <p:cNvSpPr/>
          <p:nvPr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hape 194">
            <a:extLst>
              <a:ext uri="{FF2B5EF4-FFF2-40B4-BE49-F238E27FC236}">
                <a16:creationId xmlns:a16="http://schemas.microsoft.com/office/drawing/2014/main" id="{BFC11E5B-EAD7-AAB1-847D-FA6AB959EF12}"/>
              </a:ext>
            </a:extLst>
          </p:cNvPr>
          <p:cNvSpPr txBox="1">
            <a:spLocks/>
          </p:cNvSpPr>
          <p:nvPr/>
        </p:nvSpPr>
        <p:spPr>
          <a:xfrm>
            <a:off x="0" y="3819525"/>
            <a:ext cx="12192000" cy="1449388"/>
          </a:xfrm>
          <a:prstGeom prst="rect">
            <a:avLst/>
          </a:prstGeom>
          <a:noFill/>
          <a:ln>
            <a:noFill/>
          </a:ln>
        </p:spPr>
        <p:txBody>
          <a:bodyPr lIns="91425" tIns="45700" rIns="137150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 defTabSz="914411" eaLnBrk="1" fontAlgn="auto" hangingPunct="1">
              <a:spcBef>
                <a:spcPts val="0"/>
              </a:spcBef>
              <a:buClr>
                <a:srgbClr val="000000"/>
              </a:buClr>
              <a:defRPr/>
            </a:pPr>
            <a:endParaRPr lang="en-US" b="1" kern="0" dirty="0">
              <a:solidFill>
                <a:srgbClr val="000000"/>
              </a:solidFill>
            </a:endParaRPr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E272AC7A-EB06-1E4D-1C71-8045563EC1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950" y="3944938"/>
            <a:ext cx="47879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Aerodynamics</a:t>
            </a:r>
          </a:p>
        </p:txBody>
      </p:sp>
      <p:sp>
        <p:nvSpPr>
          <p:cNvPr id="4" name="Shape 194">
            <a:extLst>
              <a:ext uri="{FF2B5EF4-FFF2-40B4-BE49-F238E27FC236}">
                <a16:creationId xmlns:a16="http://schemas.microsoft.com/office/drawing/2014/main" id="{013F24AA-ED28-5A32-33F6-260104423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0775" y="3817938"/>
            <a:ext cx="2241550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6 Pages Max</a:t>
            </a:r>
          </a:p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(not including this page)</a:t>
            </a:r>
          </a:p>
        </p:txBody>
      </p:sp>
    </p:spTree>
    <p:extLst>
      <p:ext uri="{BB962C8B-B14F-4D97-AF65-F5344CB8AC3E}">
        <p14:creationId xmlns:p14="http://schemas.microsoft.com/office/powerpoint/2010/main" val="1291221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3">
            <a:extLst>
              <a:ext uri="{FF2B5EF4-FFF2-40B4-BE49-F238E27FC236}">
                <a16:creationId xmlns:a16="http://schemas.microsoft.com/office/drawing/2014/main" id="{D7A9A189-C4E4-C7D4-59C2-B21840A8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Aerodynamics (page 1 of 6)</a:t>
            </a:r>
          </a:p>
        </p:txBody>
      </p:sp>
      <p:sp>
        <p:nvSpPr>
          <p:cNvPr id="36867" name="Slide Number Placeholder 1">
            <a:extLst>
              <a:ext uri="{FF2B5EF4-FFF2-40B4-BE49-F238E27FC236}">
                <a16:creationId xmlns:a16="http://schemas.microsoft.com/office/drawing/2014/main" id="{9F6CB4BF-873E-4E71-06E9-8873E759C6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14A79D-B1C4-4FC1-A2A7-0B1BDDC5B066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36868" name="Content Placeholder 4">
            <a:extLst>
              <a:ext uri="{FF2B5EF4-FFF2-40B4-BE49-F238E27FC236}">
                <a16:creationId xmlns:a16="http://schemas.microsoft.com/office/drawing/2014/main" id="{0859F347-BAD8-ACC0-7360-BB453016091C}"/>
              </a:ext>
            </a:extLst>
          </p:cNvPr>
          <p:cNvSpPr>
            <a:spLocks/>
          </p:cNvSpPr>
          <p:nvPr/>
        </p:nvSpPr>
        <p:spPr bwMode="auto">
          <a:xfrm>
            <a:off x="609600" y="1196975"/>
            <a:ext cx="1097280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6858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Your text here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9D61BC-EAAF-7BBF-0E4F-0F108CFD4E93}"/>
              </a:ext>
            </a:extLst>
          </p:cNvPr>
          <p:cNvSpPr/>
          <p:nvPr/>
        </p:nvSpPr>
        <p:spPr>
          <a:xfrm>
            <a:off x="7617329" y="376691"/>
            <a:ext cx="3965071" cy="20449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See the Design Event Scoresheet on fsaeonline.com for a list of topics relevant to this category.</a:t>
            </a:r>
          </a:p>
          <a:p>
            <a:pPr algn="ctr"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Remember:  This is a Design Briefing.  The “Why” is as important as the “What”.  Specifications should be accompanied by rationale.</a:t>
            </a:r>
          </a:p>
        </p:txBody>
      </p:sp>
    </p:spTree>
    <p:extLst>
      <p:ext uri="{BB962C8B-B14F-4D97-AF65-F5344CB8AC3E}">
        <p14:creationId xmlns:p14="http://schemas.microsoft.com/office/powerpoint/2010/main" val="830584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A36BB9-30AF-7E59-0C95-3290356FD4B3}"/>
              </a:ext>
            </a:extLst>
          </p:cNvPr>
          <p:cNvSpPr/>
          <p:nvPr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E42FB-89E2-4AF4-18DA-1B285E2E7D15}"/>
              </a:ext>
            </a:extLst>
          </p:cNvPr>
          <p:cNvSpPr/>
          <p:nvPr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6D5B6-8729-6BF5-9C01-EFEF71539FEF}"/>
              </a:ext>
            </a:extLst>
          </p:cNvPr>
          <p:cNvSpPr/>
          <p:nvPr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17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0FA10-140E-5DE7-39EF-D91F43319D94}"/>
              </a:ext>
            </a:extLst>
          </p:cNvPr>
          <p:cNvSpPr/>
          <p:nvPr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hape 194">
            <a:extLst>
              <a:ext uri="{FF2B5EF4-FFF2-40B4-BE49-F238E27FC236}">
                <a16:creationId xmlns:a16="http://schemas.microsoft.com/office/drawing/2014/main" id="{BFC11E5B-EAD7-AAB1-847D-FA6AB959EF12}"/>
              </a:ext>
            </a:extLst>
          </p:cNvPr>
          <p:cNvSpPr txBox="1">
            <a:spLocks/>
          </p:cNvSpPr>
          <p:nvPr/>
        </p:nvSpPr>
        <p:spPr>
          <a:xfrm>
            <a:off x="0" y="3819525"/>
            <a:ext cx="12192000" cy="1449388"/>
          </a:xfrm>
          <a:prstGeom prst="rect">
            <a:avLst/>
          </a:prstGeom>
          <a:noFill/>
          <a:ln>
            <a:noFill/>
          </a:ln>
        </p:spPr>
        <p:txBody>
          <a:bodyPr lIns="91425" tIns="45700" rIns="137150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 defTabSz="914411" eaLnBrk="1" fontAlgn="auto" hangingPunct="1">
              <a:spcBef>
                <a:spcPts val="0"/>
              </a:spcBef>
              <a:buClr>
                <a:srgbClr val="000000"/>
              </a:buClr>
              <a:defRPr/>
            </a:pPr>
            <a:endParaRPr lang="en-US" b="1" kern="0" dirty="0">
              <a:solidFill>
                <a:srgbClr val="000000"/>
              </a:solidFill>
            </a:endParaRPr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E272AC7A-EB06-1E4D-1C71-8045563EC1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950" y="3944938"/>
            <a:ext cx="47879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Powertrain</a:t>
            </a:r>
          </a:p>
        </p:txBody>
      </p:sp>
      <p:sp>
        <p:nvSpPr>
          <p:cNvPr id="3" name="Shape 194">
            <a:extLst>
              <a:ext uri="{FF2B5EF4-FFF2-40B4-BE49-F238E27FC236}">
                <a16:creationId xmlns:a16="http://schemas.microsoft.com/office/drawing/2014/main" id="{15B4920B-AAB2-CD22-232D-B40E2FCE1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0775" y="3817938"/>
            <a:ext cx="2241550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6 Pages Max</a:t>
            </a:r>
          </a:p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(not including this page)</a:t>
            </a:r>
          </a:p>
        </p:txBody>
      </p:sp>
    </p:spTree>
    <p:extLst>
      <p:ext uri="{BB962C8B-B14F-4D97-AF65-F5344CB8AC3E}">
        <p14:creationId xmlns:p14="http://schemas.microsoft.com/office/powerpoint/2010/main" val="328737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3">
            <a:extLst>
              <a:ext uri="{FF2B5EF4-FFF2-40B4-BE49-F238E27FC236}">
                <a16:creationId xmlns:a16="http://schemas.microsoft.com/office/drawing/2014/main" id="{D7A9A189-C4E4-C7D4-59C2-B21840A8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Powertrain (page 1 of 6)</a:t>
            </a:r>
          </a:p>
        </p:txBody>
      </p:sp>
      <p:sp>
        <p:nvSpPr>
          <p:cNvPr id="36867" name="Slide Number Placeholder 1">
            <a:extLst>
              <a:ext uri="{FF2B5EF4-FFF2-40B4-BE49-F238E27FC236}">
                <a16:creationId xmlns:a16="http://schemas.microsoft.com/office/drawing/2014/main" id="{9F6CB4BF-873E-4E71-06E9-8873E759C6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14A79D-B1C4-4FC1-A2A7-0B1BDDC5B066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36868" name="Content Placeholder 4">
            <a:extLst>
              <a:ext uri="{FF2B5EF4-FFF2-40B4-BE49-F238E27FC236}">
                <a16:creationId xmlns:a16="http://schemas.microsoft.com/office/drawing/2014/main" id="{0859F347-BAD8-ACC0-7360-BB453016091C}"/>
              </a:ext>
            </a:extLst>
          </p:cNvPr>
          <p:cNvSpPr>
            <a:spLocks/>
          </p:cNvSpPr>
          <p:nvPr/>
        </p:nvSpPr>
        <p:spPr bwMode="auto">
          <a:xfrm>
            <a:off x="609600" y="1196975"/>
            <a:ext cx="1097280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6858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Your text here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571E1E-6AB9-D01A-DB30-957C90BFF798}"/>
              </a:ext>
            </a:extLst>
          </p:cNvPr>
          <p:cNvSpPr/>
          <p:nvPr/>
        </p:nvSpPr>
        <p:spPr>
          <a:xfrm>
            <a:off x="7617329" y="376691"/>
            <a:ext cx="3965071" cy="20449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See the Design Event Scoresheet on fsaeonline.com for a list of topics relevant to this category.</a:t>
            </a:r>
          </a:p>
          <a:p>
            <a:pPr algn="ctr"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Remember:  This is a Design Briefing.  The “Why” is as important as the “What”.  Specifications should be accompanied by rationale.</a:t>
            </a:r>
          </a:p>
        </p:txBody>
      </p:sp>
    </p:spTree>
    <p:extLst>
      <p:ext uri="{BB962C8B-B14F-4D97-AF65-F5344CB8AC3E}">
        <p14:creationId xmlns:p14="http://schemas.microsoft.com/office/powerpoint/2010/main" val="1335158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A36BB9-30AF-7E59-0C95-3290356FD4B3}"/>
              </a:ext>
            </a:extLst>
          </p:cNvPr>
          <p:cNvSpPr/>
          <p:nvPr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E42FB-89E2-4AF4-18DA-1B285E2E7D15}"/>
              </a:ext>
            </a:extLst>
          </p:cNvPr>
          <p:cNvSpPr/>
          <p:nvPr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6D5B6-8729-6BF5-9C01-EFEF71539FEF}"/>
              </a:ext>
            </a:extLst>
          </p:cNvPr>
          <p:cNvSpPr/>
          <p:nvPr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17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0FA10-140E-5DE7-39EF-D91F43319D94}"/>
              </a:ext>
            </a:extLst>
          </p:cNvPr>
          <p:cNvSpPr/>
          <p:nvPr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hape 194">
            <a:extLst>
              <a:ext uri="{FF2B5EF4-FFF2-40B4-BE49-F238E27FC236}">
                <a16:creationId xmlns:a16="http://schemas.microsoft.com/office/drawing/2014/main" id="{BFC11E5B-EAD7-AAB1-847D-FA6AB959EF12}"/>
              </a:ext>
            </a:extLst>
          </p:cNvPr>
          <p:cNvSpPr txBox="1">
            <a:spLocks/>
          </p:cNvSpPr>
          <p:nvPr/>
        </p:nvSpPr>
        <p:spPr>
          <a:xfrm>
            <a:off x="0" y="3819525"/>
            <a:ext cx="12192000" cy="1449388"/>
          </a:xfrm>
          <a:prstGeom prst="rect">
            <a:avLst/>
          </a:prstGeom>
          <a:noFill/>
          <a:ln>
            <a:noFill/>
          </a:ln>
        </p:spPr>
        <p:txBody>
          <a:bodyPr lIns="91425" tIns="45700" rIns="137150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 defTabSz="914411" eaLnBrk="1" fontAlgn="auto" hangingPunct="1">
              <a:spcBef>
                <a:spcPts val="0"/>
              </a:spcBef>
              <a:buClr>
                <a:srgbClr val="000000"/>
              </a:buClr>
              <a:defRPr/>
            </a:pPr>
            <a:endParaRPr lang="en-US" b="1" kern="0" dirty="0">
              <a:solidFill>
                <a:srgbClr val="000000"/>
              </a:solidFill>
            </a:endParaRPr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E272AC7A-EB06-1E4D-1C71-8045563EC1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950" y="3944938"/>
            <a:ext cx="47879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Chassis</a:t>
            </a:r>
          </a:p>
        </p:txBody>
      </p:sp>
      <p:sp>
        <p:nvSpPr>
          <p:cNvPr id="3" name="Shape 194">
            <a:extLst>
              <a:ext uri="{FF2B5EF4-FFF2-40B4-BE49-F238E27FC236}">
                <a16:creationId xmlns:a16="http://schemas.microsoft.com/office/drawing/2014/main" id="{92F00A9B-0676-B1C9-FEAD-E577BC254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0775" y="3817938"/>
            <a:ext cx="2241550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6 Pages Max</a:t>
            </a:r>
          </a:p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(not including this page)</a:t>
            </a:r>
          </a:p>
        </p:txBody>
      </p:sp>
    </p:spTree>
    <p:extLst>
      <p:ext uri="{BB962C8B-B14F-4D97-AF65-F5344CB8AC3E}">
        <p14:creationId xmlns:p14="http://schemas.microsoft.com/office/powerpoint/2010/main" val="2816294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3">
            <a:extLst>
              <a:ext uri="{FF2B5EF4-FFF2-40B4-BE49-F238E27FC236}">
                <a16:creationId xmlns:a16="http://schemas.microsoft.com/office/drawing/2014/main" id="{D7A9A189-C4E4-C7D4-59C2-B21840A8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Chassis (page 1 of 6)</a:t>
            </a:r>
          </a:p>
        </p:txBody>
      </p:sp>
      <p:sp>
        <p:nvSpPr>
          <p:cNvPr id="36867" name="Slide Number Placeholder 1">
            <a:extLst>
              <a:ext uri="{FF2B5EF4-FFF2-40B4-BE49-F238E27FC236}">
                <a16:creationId xmlns:a16="http://schemas.microsoft.com/office/drawing/2014/main" id="{9F6CB4BF-873E-4E71-06E9-8873E759C6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14A79D-B1C4-4FC1-A2A7-0B1BDDC5B066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36868" name="Content Placeholder 4">
            <a:extLst>
              <a:ext uri="{FF2B5EF4-FFF2-40B4-BE49-F238E27FC236}">
                <a16:creationId xmlns:a16="http://schemas.microsoft.com/office/drawing/2014/main" id="{0859F347-BAD8-ACC0-7360-BB453016091C}"/>
              </a:ext>
            </a:extLst>
          </p:cNvPr>
          <p:cNvSpPr>
            <a:spLocks/>
          </p:cNvSpPr>
          <p:nvPr/>
        </p:nvSpPr>
        <p:spPr bwMode="auto">
          <a:xfrm>
            <a:off x="609600" y="1196975"/>
            <a:ext cx="1097280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6858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Your text here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E3E54B-FB29-1848-7BB8-DDFDF8FC4E9F}"/>
              </a:ext>
            </a:extLst>
          </p:cNvPr>
          <p:cNvSpPr/>
          <p:nvPr/>
        </p:nvSpPr>
        <p:spPr>
          <a:xfrm>
            <a:off x="7617329" y="376691"/>
            <a:ext cx="3965071" cy="20449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See the Design Event Scoresheet on fsaeonline.com for a list of topics relevant to this category.</a:t>
            </a:r>
          </a:p>
          <a:p>
            <a:pPr algn="ctr"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Remember:  This is a Design Briefing.  The “Why” is as important as the “What”.  Specifications should be accompanied by rationale.</a:t>
            </a:r>
          </a:p>
        </p:txBody>
      </p:sp>
    </p:spTree>
    <p:extLst>
      <p:ext uri="{BB962C8B-B14F-4D97-AF65-F5344CB8AC3E}">
        <p14:creationId xmlns:p14="http://schemas.microsoft.com/office/powerpoint/2010/main" val="3809301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A36BB9-30AF-7E59-0C95-3290356FD4B3}"/>
              </a:ext>
            </a:extLst>
          </p:cNvPr>
          <p:cNvSpPr/>
          <p:nvPr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E42FB-89E2-4AF4-18DA-1B285E2E7D15}"/>
              </a:ext>
            </a:extLst>
          </p:cNvPr>
          <p:cNvSpPr/>
          <p:nvPr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6D5B6-8729-6BF5-9C01-EFEF71539FEF}"/>
              </a:ext>
            </a:extLst>
          </p:cNvPr>
          <p:cNvSpPr/>
          <p:nvPr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17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0FA10-140E-5DE7-39EF-D91F43319D94}"/>
              </a:ext>
            </a:extLst>
          </p:cNvPr>
          <p:cNvSpPr/>
          <p:nvPr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hape 194">
            <a:extLst>
              <a:ext uri="{FF2B5EF4-FFF2-40B4-BE49-F238E27FC236}">
                <a16:creationId xmlns:a16="http://schemas.microsoft.com/office/drawing/2014/main" id="{BFC11E5B-EAD7-AAB1-847D-FA6AB959EF12}"/>
              </a:ext>
            </a:extLst>
          </p:cNvPr>
          <p:cNvSpPr txBox="1">
            <a:spLocks/>
          </p:cNvSpPr>
          <p:nvPr/>
        </p:nvSpPr>
        <p:spPr>
          <a:xfrm>
            <a:off x="0" y="3819525"/>
            <a:ext cx="12192000" cy="1449388"/>
          </a:xfrm>
          <a:prstGeom prst="rect">
            <a:avLst/>
          </a:prstGeom>
          <a:noFill/>
          <a:ln>
            <a:noFill/>
          </a:ln>
        </p:spPr>
        <p:txBody>
          <a:bodyPr lIns="91425" tIns="45700" rIns="137150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 defTabSz="914411" eaLnBrk="1" fontAlgn="auto" hangingPunct="1">
              <a:spcBef>
                <a:spcPts val="0"/>
              </a:spcBef>
              <a:buClr>
                <a:srgbClr val="000000"/>
              </a:buClr>
              <a:defRPr/>
            </a:pPr>
            <a:endParaRPr lang="en-US" b="1" kern="0" dirty="0">
              <a:solidFill>
                <a:srgbClr val="000000"/>
              </a:solidFill>
            </a:endParaRPr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E272AC7A-EB06-1E4D-1C71-8045563EC1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949" y="3944938"/>
            <a:ext cx="5629659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Driver Interface &amp; Brakes</a:t>
            </a:r>
          </a:p>
        </p:txBody>
      </p:sp>
      <p:sp>
        <p:nvSpPr>
          <p:cNvPr id="3" name="Shape 194">
            <a:extLst>
              <a:ext uri="{FF2B5EF4-FFF2-40B4-BE49-F238E27FC236}">
                <a16:creationId xmlns:a16="http://schemas.microsoft.com/office/drawing/2014/main" id="{8D2F1915-7EB8-5445-311B-8C94B6BAC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0775" y="3817938"/>
            <a:ext cx="2241550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6 Pages Max</a:t>
            </a:r>
          </a:p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(not including this page)</a:t>
            </a:r>
          </a:p>
        </p:txBody>
      </p:sp>
    </p:spTree>
    <p:extLst>
      <p:ext uri="{BB962C8B-B14F-4D97-AF65-F5344CB8AC3E}">
        <p14:creationId xmlns:p14="http://schemas.microsoft.com/office/powerpoint/2010/main" val="3388186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3">
            <a:extLst>
              <a:ext uri="{FF2B5EF4-FFF2-40B4-BE49-F238E27FC236}">
                <a16:creationId xmlns:a16="http://schemas.microsoft.com/office/drawing/2014/main" id="{D7A9A189-C4E4-C7D4-59C2-B21840A8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Driver Interface &amp; Brakes (page 1 of 6)</a:t>
            </a:r>
          </a:p>
        </p:txBody>
      </p:sp>
      <p:sp>
        <p:nvSpPr>
          <p:cNvPr id="36867" name="Slide Number Placeholder 1">
            <a:extLst>
              <a:ext uri="{FF2B5EF4-FFF2-40B4-BE49-F238E27FC236}">
                <a16:creationId xmlns:a16="http://schemas.microsoft.com/office/drawing/2014/main" id="{9F6CB4BF-873E-4E71-06E9-8873E759C6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14A79D-B1C4-4FC1-A2A7-0B1BDDC5B066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36868" name="Content Placeholder 4">
            <a:extLst>
              <a:ext uri="{FF2B5EF4-FFF2-40B4-BE49-F238E27FC236}">
                <a16:creationId xmlns:a16="http://schemas.microsoft.com/office/drawing/2014/main" id="{0859F347-BAD8-ACC0-7360-BB453016091C}"/>
              </a:ext>
            </a:extLst>
          </p:cNvPr>
          <p:cNvSpPr>
            <a:spLocks/>
          </p:cNvSpPr>
          <p:nvPr/>
        </p:nvSpPr>
        <p:spPr bwMode="auto">
          <a:xfrm>
            <a:off x="609600" y="1196975"/>
            <a:ext cx="1097280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6858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Your text here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3694EE-1C10-AEA8-F473-65C4DD629D1E}"/>
              </a:ext>
            </a:extLst>
          </p:cNvPr>
          <p:cNvSpPr/>
          <p:nvPr/>
        </p:nvSpPr>
        <p:spPr>
          <a:xfrm>
            <a:off x="7617329" y="376691"/>
            <a:ext cx="3965071" cy="20449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See the Design Event Scoresheet on fsaeonline.com for a list of topics relevant to this category.</a:t>
            </a:r>
          </a:p>
          <a:p>
            <a:pPr algn="ctr"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Remember:  This is a Design Briefing.  The “Why” is as important as the “What”.  Specifications should be accompanied by rationale.</a:t>
            </a:r>
          </a:p>
        </p:txBody>
      </p:sp>
    </p:spTree>
    <p:extLst>
      <p:ext uri="{BB962C8B-B14F-4D97-AF65-F5344CB8AC3E}">
        <p14:creationId xmlns:p14="http://schemas.microsoft.com/office/powerpoint/2010/main" val="1646533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A36BB9-30AF-7E59-0C95-3290356FD4B3}"/>
              </a:ext>
            </a:extLst>
          </p:cNvPr>
          <p:cNvSpPr/>
          <p:nvPr/>
        </p:nvSpPr>
        <p:spPr>
          <a:xfrm>
            <a:off x="0" y="1298575"/>
            <a:ext cx="12188825" cy="9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E42FB-89E2-4AF4-18DA-1B285E2E7D15}"/>
              </a:ext>
            </a:extLst>
          </p:cNvPr>
          <p:cNvSpPr/>
          <p:nvPr/>
        </p:nvSpPr>
        <p:spPr>
          <a:xfrm>
            <a:off x="9629775" y="0"/>
            <a:ext cx="114300" cy="6950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6D5B6-8729-6BF5-9C01-EFEF71539FEF}"/>
              </a:ext>
            </a:extLst>
          </p:cNvPr>
          <p:cNvSpPr/>
          <p:nvPr/>
        </p:nvSpPr>
        <p:spPr>
          <a:xfrm>
            <a:off x="0" y="1565275"/>
            <a:ext cx="12188825" cy="93663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17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0FA10-140E-5DE7-39EF-D91F43319D94}"/>
              </a:ext>
            </a:extLst>
          </p:cNvPr>
          <p:cNvSpPr/>
          <p:nvPr/>
        </p:nvSpPr>
        <p:spPr>
          <a:xfrm>
            <a:off x="9896475" y="0"/>
            <a:ext cx="114300" cy="6950075"/>
          </a:xfrm>
          <a:prstGeom prst="rect">
            <a:avLst/>
          </a:prstGeom>
          <a:solidFill>
            <a:srgbClr val="F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hape 194">
            <a:extLst>
              <a:ext uri="{FF2B5EF4-FFF2-40B4-BE49-F238E27FC236}">
                <a16:creationId xmlns:a16="http://schemas.microsoft.com/office/drawing/2014/main" id="{BFC11E5B-EAD7-AAB1-847D-FA6AB959EF12}"/>
              </a:ext>
            </a:extLst>
          </p:cNvPr>
          <p:cNvSpPr txBox="1">
            <a:spLocks/>
          </p:cNvSpPr>
          <p:nvPr/>
        </p:nvSpPr>
        <p:spPr>
          <a:xfrm>
            <a:off x="0" y="3819525"/>
            <a:ext cx="12192000" cy="1449388"/>
          </a:xfrm>
          <a:prstGeom prst="rect">
            <a:avLst/>
          </a:prstGeom>
          <a:noFill/>
          <a:ln>
            <a:noFill/>
          </a:ln>
        </p:spPr>
        <p:txBody>
          <a:bodyPr lIns="91425" tIns="45700" rIns="137150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 defTabSz="914411" eaLnBrk="1" fontAlgn="auto" hangingPunct="1">
              <a:spcBef>
                <a:spcPts val="0"/>
              </a:spcBef>
              <a:buClr>
                <a:srgbClr val="000000"/>
              </a:buClr>
              <a:defRPr/>
            </a:pPr>
            <a:endParaRPr lang="en-US" b="1" kern="0" dirty="0">
              <a:solidFill>
                <a:srgbClr val="000000"/>
              </a:solidFill>
            </a:endParaRPr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E272AC7A-EB06-1E4D-1C71-8045563EC1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949" y="3944938"/>
            <a:ext cx="8895373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Low Voltage Electronics &amp; Data Acquisition</a:t>
            </a:r>
          </a:p>
        </p:txBody>
      </p:sp>
      <p:sp>
        <p:nvSpPr>
          <p:cNvPr id="3" name="Shape 194">
            <a:extLst>
              <a:ext uri="{FF2B5EF4-FFF2-40B4-BE49-F238E27FC236}">
                <a16:creationId xmlns:a16="http://schemas.microsoft.com/office/drawing/2014/main" id="{B4517196-2E96-9371-984E-B122C183E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0775" y="3817938"/>
            <a:ext cx="2241550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137150" bIns="457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6 Pages Max</a:t>
            </a:r>
          </a:p>
          <a:p>
            <a:pPr defTabSz="914400" eaLnBrk="1" hangingPunct="1">
              <a:spcBef>
                <a:spcPct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(not including this page)</a:t>
            </a:r>
          </a:p>
        </p:txBody>
      </p:sp>
    </p:spTree>
    <p:extLst>
      <p:ext uri="{BB962C8B-B14F-4D97-AF65-F5344CB8AC3E}">
        <p14:creationId xmlns:p14="http://schemas.microsoft.com/office/powerpoint/2010/main" val="1110737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3">
            <a:extLst>
              <a:ext uri="{FF2B5EF4-FFF2-40B4-BE49-F238E27FC236}">
                <a16:creationId xmlns:a16="http://schemas.microsoft.com/office/drawing/2014/main" id="{D7A9A189-C4E4-C7D4-59C2-B21840A8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Low Voltage Elec. &amp; Data Aq. (page 1 of 6)</a:t>
            </a:r>
          </a:p>
        </p:txBody>
      </p:sp>
      <p:sp>
        <p:nvSpPr>
          <p:cNvPr id="36867" name="Slide Number Placeholder 1">
            <a:extLst>
              <a:ext uri="{FF2B5EF4-FFF2-40B4-BE49-F238E27FC236}">
                <a16:creationId xmlns:a16="http://schemas.microsoft.com/office/drawing/2014/main" id="{9F6CB4BF-873E-4E71-06E9-8873E759C6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14A79D-B1C4-4FC1-A2A7-0B1BDDC5B066}" type="slidenum">
              <a:rPr lang="en-US" altLang="en-US" sz="1200" smtClean="0">
                <a:solidFill>
                  <a:srgbClr val="898989"/>
                </a:solidFill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36868" name="Content Placeholder 4">
            <a:extLst>
              <a:ext uri="{FF2B5EF4-FFF2-40B4-BE49-F238E27FC236}">
                <a16:creationId xmlns:a16="http://schemas.microsoft.com/office/drawing/2014/main" id="{0859F347-BAD8-ACC0-7360-BB453016091C}"/>
              </a:ext>
            </a:extLst>
          </p:cNvPr>
          <p:cNvSpPr>
            <a:spLocks/>
          </p:cNvSpPr>
          <p:nvPr/>
        </p:nvSpPr>
        <p:spPr bwMode="auto">
          <a:xfrm>
            <a:off x="609600" y="1196975"/>
            <a:ext cx="1097280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1pPr>
            <a:lvl2pPr marL="6858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Perpetua" panose="02020502060401020303" pitchFamily="18" charset="0"/>
                <a:cs typeface="Perpetua" panose="02020502060401020303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Your text here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431720-B610-25F7-198F-69E574D3DC3C}"/>
              </a:ext>
            </a:extLst>
          </p:cNvPr>
          <p:cNvSpPr/>
          <p:nvPr/>
        </p:nvSpPr>
        <p:spPr>
          <a:xfrm>
            <a:off x="7617329" y="376691"/>
            <a:ext cx="3965071" cy="20449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See the Design Event Scoresheet on fsaeonline.com for a list of topics relevant to this category.</a:t>
            </a:r>
          </a:p>
          <a:p>
            <a:pPr algn="ctr" eaLnBrk="1" hangingPunct="1">
              <a:defRPr/>
            </a:pPr>
            <a:endParaRPr lang="en-US" altLang="en-US" sz="1600" dirty="0">
              <a:solidFill>
                <a:srgbClr val="FFFFFF"/>
              </a:solidFill>
            </a:endParaRPr>
          </a:p>
          <a:p>
            <a:pPr algn="ctr"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Remember:  This is a Design Briefing.  The “Why” is as important as the “What”.  Specifications should be accompanied by rationale.</a:t>
            </a:r>
          </a:p>
        </p:txBody>
      </p:sp>
    </p:spTree>
    <p:extLst>
      <p:ext uri="{BB962C8B-B14F-4D97-AF65-F5344CB8AC3E}">
        <p14:creationId xmlns:p14="http://schemas.microsoft.com/office/powerpoint/2010/main" val="3124828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2566</TotalTime>
  <Words>1276</Words>
  <Application>Microsoft Office PowerPoint</Application>
  <PresentationFormat>Widescreen</PresentationFormat>
  <Paragraphs>187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1_Office Theme</vt:lpstr>
      <vt:lpstr>2025 Design Briefing</vt:lpstr>
      <vt:lpstr>Table of Contents</vt:lpstr>
      <vt:lpstr>Design/Engineering Executive Summary</vt:lpstr>
      <vt:lpstr>Executive Summary (1 of 2)</vt:lpstr>
      <vt:lpstr>Executive Summary (2 of 2)</vt:lpstr>
      <vt:lpstr>Overall Vehicle</vt:lpstr>
      <vt:lpstr>Overall Vehicle – Vehicle Description</vt:lpstr>
      <vt:lpstr>Overall Vehicle – Vehicle Views</vt:lpstr>
      <vt:lpstr>Overall Vehicle – Points Goal </vt:lpstr>
      <vt:lpstr>Design Overview – Mass Breakdown </vt:lpstr>
      <vt:lpstr>Overall Vehicle (5 of 8)</vt:lpstr>
      <vt:lpstr>Vehicle Dynamics</vt:lpstr>
      <vt:lpstr>Vehicle Dynamics (page 1 of 6)</vt:lpstr>
      <vt:lpstr>Aerodynamics</vt:lpstr>
      <vt:lpstr>Aerodynamics (page 1 of 6)</vt:lpstr>
      <vt:lpstr>Powertrain</vt:lpstr>
      <vt:lpstr>Powertrain (page 1 of 6)</vt:lpstr>
      <vt:lpstr>Chassis</vt:lpstr>
      <vt:lpstr>Chassis (page 1 of 6)</vt:lpstr>
      <vt:lpstr>Driver Interface &amp; Brakes</vt:lpstr>
      <vt:lpstr>Driver Interface &amp; Brakes (page 1 of 6)</vt:lpstr>
      <vt:lpstr>Low Voltage Electronics &amp; Data Acquisition</vt:lpstr>
      <vt:lpstr>Low Voltage Elec. &amp; Data Aq. (page 1 of 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of Contents</dc:title>
  <dc:creator>William Riley</dc:creator>
  <cp:lastModifiedBy>Edward Kasprzak</cp:lastModifiedBy>
  <cp:revision>105</cp:revision>
  <dcterms:created xsi:type="dcterms:W3CDTF">2021-01-15T07:56:41Z</dcterms:created>
  <dcterms:modified xsi:type="dcterms:W3CDTF">2024-10-01T17:51:40Z</dcterms:modified>
</cp:coreProperties>
</file>