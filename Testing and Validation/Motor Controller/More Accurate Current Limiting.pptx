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DC91-6FFC-AD96-37DB-30BFC53E2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BDB38-A19D-34C5-A1A4-6D28D7EDB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B5050-A0B6-CDEE-34BE-810D5565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C9FF-B4D0-CD10-5C2C-2E6BD91F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EE9CE-F7BD-CD67-75C0-E63CB043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8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0B97-0F04-6270-4A27-F6220721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AD7C2-2915-E7D0-71A9-ED826AE28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F8991-44C0-007D-452B-9D304588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74B63-621F-45FB-C6AC-C61DDD98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D6EE6-73B1-0956-3FFC-B788E783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B7D0-F86A-AEE4-838E-FA6894428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E9A03-1B69-A048-BF06-2BE69C84E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64F0E-C4F7-E203-E9DA-335D26B6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6B28-82ED-5D63-6AB5-C00579DF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2D6D1-DA60-8D1A-4E15-A0D327F1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9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7B1A-786B-B3CD-4F28-2C7EB296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E642-3BD3-E2A1-3831-768B61B8C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ED9D0-9A71-5C66-2EB6-C88747292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DAAE4-78C2-F095-BC8A-CB6933B8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67F17-B9BC-F92C-9712-DFA7BC43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0A3C4-16DF-94B9-CC8D-1C623157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1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7BDF-0CDB-E6AE-8E73-A4A904D3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A0F5-4AE1-6E03-4AAD-63438B671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8C72B-D5B6-CE96-CB38-09F8E790E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004FF-A29F-3254-E58B-DD377E781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32441-FD6D-0DB4-C7A8-019A806A0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7895E-267C-8923-AD43-ED83B359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BDCE7-0420-5849-0CB6-6E739EB1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ACA8A-07EA-83E3-1F13-9F63CC1E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7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85B3-B07F-BB1F-4C4B-BFB0D9E8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A3F9C-A4F6-4876-44C3-C5241F9A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FC952-64A9-50EB-BB8F-014AFD8A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75A2E-A4BC-BAA1-ACE9-AAB48E6C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7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6C29C-392B-BF95-8FEF-95CABFDA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E7773-BAA4-1226-0340-6D20A66C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9A0F6-F4DB-2C4F-9271-C146B800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6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56B5-58A7-B63B-CA59-4FCE27CA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2EE1-997E-EE34-87D1-A933F7B7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5FDF0-6C6E-E53A-2F12-C8BE19388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1CBC3-E83E-176A-AE78-D0621D1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D98EE-E859-3F29-C750-8678BDC3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CD1D4-104E-CAA6-6867-33940B96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FEBD-C103-9508-9E03-A99E65E7B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EFACC-1C52-22F7-ED19-F12CD7A16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28492-13EC-77B5-6E54-2332713B4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7F799-179C-5ED0-41F6-24CF07CE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DCDEA-418F-428C-2441-F0F47EB9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C1BEC-98D5-6E19-9F20-3C04C201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1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1798-9C34-4409-990C-68E90BA9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B57D1-C47B-6715-1670-92BDF57A6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F5AC-C40A-A69A-C95C-A93366ED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CEAE9-CE84-CC1C-83F1-8AC8B5D4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0F22-25C3-1D12-C026-1E9D58CF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2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C8B99-EEB9-904F-C577-55C235A3E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D706A-FDA3-841E-7ED0-8892A9544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A0A96-D8A5-2ACD-2888-660774E7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810D-B7E9-67DC-CAE5-9AB656381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B1AF8-BA37-5BF7-5CFC-46178BB8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8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1D5337-8219-CC30-E7E1-B32F7D7C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BC3D2-7DA3-32DD-D573-034E84D43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2244-1631-B888-96B6-DB0F22496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8689C-698A-41E4-8081-9DC9261CE89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AD22-4BFD-09F0-6F0C-337727017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76D40-89B1-ABB1-72CF-CA2669E18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E9827-65EE-401C-B617-1B33FDBDF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6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2BE1-C218-82EF-888C-0E53AB9D8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Accurate Current Limiting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F6B4C-008C-CC0F-8DE0-971ABC18D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C. Brune</a:t>
            </a:r>
          </a:p>
          <a:p>
            <a:r>
              <a:rPr lang="en-US" dirty="0"/>
              <a:t>9/8/2025</a:t>
            </a:r>
          </a:p>
        </p:txBody>
      </p:sp>
    </p:spTree>
    <p:extLst>
      <p:ext uri="{BB962C8B-B14F-4D97-AF65-F5344CB8AC3E}">
        <p14:creationId xmlns:p14="http://schemas.microsoft.com/office/powerpoint/2010/main" val="97419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8DF2B-1209-275F-369B-87B655769A43}"/>
              </a:ext>
            </a:extLst>
          </p:cNvPr>
          <p:cNvSpPr txBox="1"/>
          <p:nvPr/>
        </p:nvSpPr>
        <p:spPr>
          <a:xfrm>
            <a:off x="879492" y="653934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BMS Current Limit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678CF-AD16-0E2E-66F0-18F8473C1BC1}"/>
              </a:ext>
            </a:extLst>
          </p:cNvPr>
          <p:cNvSpPr txBox="1"/>
          <p:nvPr/>
        </p:nvSpPr>
        <p:spPr>
          <a:xfrm>
            <a:off x="838366" y="1839436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Commanded Torque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C0AE3-CF04-BA4B-3F6D-53C5794FB4EB}"/>
              </a:ext>
            </a:extLst>
          </p:cNvPr>
          <p:cNvSpPr/>
          <p:nvPr/>
        </p:nvSpPr>
        <p:spPr>
          <a:xfrm>
            <a:off x="3696509" y="405052"/>
            <a:ext cx="1775397" cy="8055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Vdc/Motor Speed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D78CA4-B82D-BA5B-85B8-FA367BFEDBB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081517" y="807824"/>
            <a:ext cx="614992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8CF18C-D402-3935-6B33-9544D145018E}"/>
              </a:ext>
            </a:extLst>
          </p:cNvPr>
          <p:cNvGrpSpPr/>
          <p:nvPr/>
        </p:nvGrpSpPr>
        <p:grpSpPr>
          <a:xfrm>
            <a:off x="5726347" y="1578020"/>
            <a:ext cx="1775397" cy="805543"/>
            <a:chOff x="5726347" y="1578020"/>
            <a:chExt cx="1775397" cy="8055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DA2CFF-EBFD-1FCE-1C17-46FA7D9BF8E9}"/>
                </a:ext>
              </a:extLst>
            </p:cNvPr>
            <p:cNvSpPr/>
            <p:nvPr/>
          </p:nvSpPr>
          <p:spPr>
            <a:xfrm>
              <a:off x="5726347" y="1578020"/>
              <a:ext cx="1775397" cy="805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9E44A6-B4A9-5119-C042-BC079770E293}"/>
                </a:ext>
              </a:extLst>
            </p:cNvPr>
            <p:cNvCxnSpPr/>
            <p:nvPr/>
          </p:nvCxnSpPr>
          <p:spPr>
            <a:xfrm>
              <a:off x="6031149" y="2217906"/>
              <a:ext cx="39883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8CCA79B-4A9E-AE33-8728-D8D393A9E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983" y="1839437"/>
              <a:ext cx="304802" cy="378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B8CB1B-56B7-58A3-8FB8-9EF3A41DC4C6}"/>
                </a:ext>
              </a:extLst>
            </p:cNvPr>
            <p:cNvCxnSpPr>
              <a:cxnSpLocks/>
            </p:cNvCxnSpPr>
            <p:nvPr/>
          </p:nvCxnSpPr>
          <p:spPr>
            <a:xfrm>
              <a:off x="6734785" y="1839436"/>
              <a:ext cx="30727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CBD158-7087-D64E-B57A-472BE066D5C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614045" y="807823"/>
            <a:ext cx="1" cy="770197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456FAB-1B06-7353-8D28-E726A80A379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471906" y="807824"/>
            <a:ext cx="1142139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DC4D80-4105-F1C9-E6C9-04354F67354A}"/>
              </a:ext>
            </a:extLst>
          </p:cNvPr>
          <p:cNvSpPr txBox="1"/>
          <p:nvPr/>
        </p:nvSpPr>
        <p:spPr>
          <a:xfrm>
            <a:off x="5376153" y="463958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Torque Limit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DA3265-4C12-0A4B-36FA-04ECB0FC647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61489" y="1980789"/>
            <a:ext cx="2564858" cy="3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9630A2A-8AF6-19EA-031C-13439B769863}"/>
              </a:ext>
            </a:extLst>
          </p:cNvPr>
          <p:cNvSpPr/>
          <p:nvPr/>
        </p:nvSpPr>
        <p:spPr>
          <a:xfrm>
            <a:off x="8205380" y="1578018"/>
            <a:ext cx="1775397" cy="8055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 / (3 * P / 4 * </a:t>
            </a:r>
            <a:r>
              <a:rPr lang="en-US" sz="1400" dirty="0" err="1">
                <a:solidFill>
                  <a:schemeClr val="tx1"/>
                </a:solidFill>
              </a:rPr>
              <a:t>flux_pm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D13D38-6EF6-89EF-2DCC-1C14C152A2A1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7501744" y="1980790"/>
            <a:ext cx="703636" cy="2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5270D0-70F4-844B-4CB4-9ED6D79D4DA3}"/>
              </a:ext>
            </a:extLst>
          </p:cNvPr>
          <p:cNvCxnSpPr>
            <a:cxnSpLocks/>
          </p:cNvCxnSpPr>
          <p:nvPr/>
        </p:nvCxnSpPr>
        <p:spPr>
          <a:xfrm flipV="1">
            <a:off x="9980777" y="1980789"/>
            <a:ext cx="703636" cy="12535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5A3103-C5AA-981F-06C2-3F670D58134E}"/>
              </a:ext>
            </a:extLst>
          </p:cNvPr>
          <p:cNvCxnSpPr>
            <a:cxnSpLocks/>
          </p:cNvCxnSpPr>
          <p:nvPr/>
        </p:nvCxnSpPr>
        <p:spPr>
          <a:xfrm>
            <a:off x="3404681" y="175098"/>
            <a:ext cx="0" cy="23930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C520D04-3EFB-62C2-3C19-A0BF31F8348D}"/>
              </a:ext>
            </a:extLst>
          </p:cNvPr>
          <p:cNvSpPr/>
          <p:nvPr/>
        </p:nvSpPr>
        <p:spPr>
          <a:xfrm>
            <a:off x="3324376" y="4000240"/>
            <a:ext cx="1775397" cy="8055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2D Look-up Table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5B0B6C-0CA9-8EC2-59B8-C11689CE4072}"/>
              </a:ext>
            </a:extLst>
          </p:cNvPr>
          <p:cNvSpPr txBox="1"/>
          <p:nvPr/>
        </p:nvSpPr>
        <p:spPr>
          <a:xfrm>
            <a:off x="8083685" y="405052"/>
            <a:ext cx="27038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Setting of torque limit doesn’t actually use a measured DC current value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F08F84-D81D-2BBB-E7AE-0684B116DBC9}"/>
              </a:ext>
            </a:extLst>
          </p:cNvPr>
          <p:cNvSpPr txBox="1"/>
          <p:nvPr/>
        </p:nvSpPr>
        <p:spPr>
          <a:xfrm>
            <a:off x="470718" y="4011822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DC Bus Voltage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0D7F8C-4049-9125-09B4-C73CF8F723A5}"/>
              </a:ext>
            </a:extLst>
          </p:cNvPr>
          <p:cNvCxnSpPr>
            <a:cxnSpLocks/>
          </p:cNvCxnSpPr>
          <p:nvPr/>
        </p:nvCxnSpPr>
        <p:spPr>
          <a:xfrm>
            <a:off x="2672742" y="4154128"/>
            <a:ext cx="651634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2C77DD-A7F7-FD7C-3258-91CBF26E9FA6}"/>
              </a:ext>
            </a:extLst>
          </p:cNvPr>
          <p:cNvSpPr txBox="1"/>
          <p:nvPr/>
        </p:nvSpPr>
        <p:spPr>
          <a:xfrm>
            <a:off x="470718" y="4403011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Motor Speed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58B2E9-0498-5C38-E7A9-FB48EAF31DF0}"/>
              </a:ext>
            </a:extLst>
          </p:cNvPr>
          <p:cNvCxnSpPr>
            <a:cxnSpLocks/>
          </p:cNvCxnSpPr>
          <p:nvPr/>
        </p:nvCxnSpPr>
        <p:spPr>
          <a:xfrm>
            <a:off x="2672742" y="4556899"/>
            <a:ext cx="651634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B9943D-59F3-21AF-42A2-9FAE8780B044}"/>
              </a:ext>
            </a:extLst>
          </p:cNvPr>
          <p:cNvGrpSpPr/>
          <p:nvPr/>
        </p:nvGrpSpPr>
        <p:grpSpPr>
          <a:xfrm>
            <a:off x="5361464" y="5153196"/>
            <a:ext cx="1775397" cy="805543"/>
            <a:chOff x="5726347" y="1578020"/>
            <a:chExt cx="1775397" cy="80554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E77719-FC26-D421-3800-6B08D82AB8BA}"/>
                </a:ext>
              </a:extLst>
            </p:cNvPr>
            <p:cNvSpPr/>
            <p:nvPr/>
          </p:nvSpPr>
          <p:spPr>
            <a:xfrm>
              <a:off x="5726347" y="1578020"/>
              <a:ext cx="1775397" cy="805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2339C3F-D8C5-01D3-4610-EBD5B381439B}"/>
                </a:ext>
              </a:extLst>
            </p:cNvPr>
            <p:cNvCxnSpPr/>
            <p:nvPr/>
          </p:nvCxnSpPr>
          <p:spPr>
            <a:xfrm>
              <a:off x="6031149" y="2217906"/>
              <a:ext cx="39883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A2A9838-9326-DCAF-0D8D-F14913512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983" y="1839437"/>
              <a:ext cx="304802" cy="378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C40CC24-D9DB-4472-7CC3-59F7C39BD8F9}"/>
                </a:ext>
              </a:extLst>
            </p:cNvPr>
            <p:cNvCxnSpPr>
              <a:cxnSpLocks/>
            </p:cNvCxnSpPr>
            <p:nvPr/>
          </p:nvCxnSpPr>
          <p:spPr>
            <a:xfrm>
              <a:off x="6734785" y="1839436"/>
              <a:ext cx="30727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03E68F0-3E7E-7B95-562B-CC9536AA7EA2}"/>
              </a:ext>
            </a:extLst>
          </p:cNvPr>
          <p:cNvCxnSpPr>
            <a:cxnSpLocks/>
          </p:cNvCxnSpPr>
          <p:nvPr/>
        </p:nvCxnSpPr>
        <p:spPr>
          <a:xfrm>
            <a:off x="6280824" y="4430243"/>
            <a:ext cx="0" cy="723591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08F1BB-BBDF-DAD5-6CC2-E40D1D083B94}"/>
              </a:ext>
            </a:extLst>
          </p:cNvPr>
          <p:cNvCxnSpPr>
            <a:cxnSpLocks/>
          </p:cNvCxnSpPr>
          <p:nvPr/>
        </p:nvCxnSpPr>
        <p:spPr>
          <a:xfrm>
            <a:off x="5077269" y="4422510"/>
            <a:ext cx="1203555" cy="7733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684361-A74D-EB90-FAC5-308762476191}"/>
              </a:ext>
            </a:extLst>
          </p:cNvPr>
          <p:cNvSpPr txBox="1"/>
          <p:nvPr/>
        </p:nvSpPr>
        <p:spPr>
          <a:xfrm>
            <a:off x="5042931" y="4039772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Torque Limit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4334B6-817A-2B01-7B9B-CCBBD1F0B43E}"/>
              </a:ext>
            </a:extLst>
          </p:cNvPr>
          <p:cNvSpPr txBox="1"/>
          <p:nvPr/>
        </p:nvSpPr>
        <p:spPr>
          <a:xfrm>
            <a:off x="2507806" y="5379694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Requested Torque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F6ED963-8EC4-01A0-9E80-A7E4F791BDC1}"/>
              </a:ext>
            </a:extLst>
          </p:cNvPr>
          <p:cNvCxnSpPr>
            <a:cxnSpLocks/>
          </p:cNvCxnSpPr>
          <p:nvPr/>
        </p:nvCxnSpPr>
        <p:spPr>
          <a:xfrm>
            <a:off x="4709830" y="5555967"/>
            <a:ext cx="651634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047D44-F827-EB0C-691E-C19023A53E35}"/>
              </a:ext>
            </a:extLst>
          </p:cNvPr>
          <p:cNvCxnSpPr>
            <a:cxnSpLocks/>
          </p:cNvCxnSpPr>
          <p:nvPr/>
        </p:nvCxnSpPr>
        <p:spPr>
          <a:xfrm>
            <a:off x="7113522" y="5533582"/>
            <a:ext cx="942699" cy="0"/>
          </a:xfrm>
          <a:prstGeom prst="straightConnector1">
            <a:avLst/>
          </a:prstGeom>
          <a:ln>
            <a:solidFill>
              <a:schemeClr val="tx1"/>
            </a:solidFill>
            <a:headEnd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AD8CE09-8FB2-A117-59E0-5A61F02D5347}"/>
              </a:ext>
            </a:extLst>
          </p:cNvPr>
          <p:cNvSpPr txBox="1"/>
          <p:nvPr/>
        </p:nvSpPr>
        <p:spPr>
          <a:xfrm>
            <a:off x="7608708" y="5379693"/>
            <a:ext cx="2202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Commanded Torque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186096C-F9CD-CB67-95A2-B693889E251A}"/>
              </a:ext>
            </a:extLst>
          </p:cNvPr>
          <p:cNvCxnSpPr>
            <a:cxnSpLocks/>
          </p:cNvCxnSpPr>
          <p:nvPr/>
        </p:nvCxnSpPr>
        <p:spPr>
          <a:xfrm>
            <a:off x="7817796" y="4039772"/>
            <a:ext cx="0" cy="23930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C4DDAF1-485D-5125-8322-77FF73E443EA}"/>
              </a:ext>
            </a:extLst>
          </p:cNvPr>
          <p:cNvSpPr txBox="1"/>
          <p:nvPr/>
        </p:nvSpPr>
        <p:spPr>
          <a:xfrm>
            <a:off x="3040390" y="2939767"/>
            <a:ext cx="2703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2D Look-up Table can be calibrated with actual maximum torque values given the battery requirements.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53FCACA-0CF2-C334-0C65-B4578C67E1F0}"/>
              </a:ext>
            </a:extLst>
          </p:cNvPr>
          <p:cNvCxnSpPr/>
          <p:nvPr/>
        </p:nvCxnSpPr>
        <p:spPr>
          <a:xfrm>
            <a:off x="719847" y="2840477"/>
            <a:ext cx="1055451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35FB773-F19A-49B1-F1C5-962B2FF5B912}"/>
              </a:ext>
            </a:extLst>
          </p:cNvPr>
          <p:cNvSpPr txBox="1"/>
          <p:nvPr/>
        </p:nvSpPr>
        <p:spPr>
          <a:xfrm>
            <a:off x="269237" y="126459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Existing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FCEEFE-58F8-090C-5E58-EC61C23A58C9}"/>
              </a:ext>
            </a:extLst>
          </p:cNvPr>
          <p:cNvSpPr txBox="1"/>
          <p:nvPr/>
        </p:nvSpPr>
        <p:spPr>
          <a:xfrm>
            <a:off x="228111" y="3010781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Proposed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D8250F-F62D-3C7A-F271-8BE877199B2D}"/>
              </a:ext>
            </a:extLst>
          </p:cNvPr>
          <p:cNvSpPr txBox="1"/>
          <p:nvPr/>
        </p:nvSpPr>
        <p:spPr>
          <a:xfrm>
            <a:off x="96694" y="5182842"/>
            <a:ext cx="2703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2D table could be replaced by a control algorithm that uses the measured battery current if it is available.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9A005E-5A29-7F89-E71C-E104B4AF9FE0}"/>
              </a:ext>
            </a:extLst>
          </p:cNvPr>
          <p:cNvSpPr txBox="1"/>
          <p:nvPr/>
        </p:nvSpPr>
        <p:spPr>
          <a:xfrm>
            <a:off x="2251464" y="65342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Vehicle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79C31D9-28E5-086F-5126-B78ABF646EFB}"/>
              </a:ext>
            </a:extLst>
          </p:cNvPr>
          <p:cNvSpPr txBox="1"/>
          <p:nvPr/>
        </p:nvSpPr>
        <p:spPr>
          <a:xfrm>
            <a:off x="3275737" y="61231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Inverter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1D7095-EAE1-A8E8-3FC7-078DA199F0EE}"/>
              </a:ext>
            </a:extLst>
          </p:cNvPr>
          <p:cNvSpPr txBox="1"/>
          <p:nvPr/>
        </p:nvSpPr>
        <p:spPr>
          <a:xfrm>
            <a:off x="6794437" y="3988165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Vehicle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A083D1-5036-122E-EE0A-DCB1515EBA6F}"/>
              </a:ext>
            </a:extLst>
          </p:cNvPr>
          <p:cNvSpPr txBox="1"/>
          <p:nvPr/>
        </p:nvSpPr>
        <p:spPr>
          <a:xfrm>
            <a:off x="7628923" y="3987599"/>
            <a:ext cx="122050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Inverter</a:t>
            </a:r>
          </a:p>
        </p:txBody>
      </p:sp>
    </p:spTree>
    <p:extLst>
      <p:ext uri="{BB962C8B-B14F-4D97-AF65-F5344CB8AC3E}">
        <p14:creationId xmlns:p14="http://schemas.microsoft.com/office/powerpoint/2010/main" val="86995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B039-5D73-66B8-7E1B-3F7558B1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CMxxx</a:t>
            </a:r>
            <a:r>
              <a:rPr lang="en-US" dirty="0"/>
              <a:t> BMS Current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F015-BAF8-8F79-AF1F-717D5E9B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CM200 does not have a DC current sensor.</a:t>
            </a:r>
          </a:p>
          <a:p>
            <a:r>
              <a:rPr lang="en-US" dirty="0"/>
              <a:t>DC Current is estimated from the motor current and motor voltage.  Does not consider inverter efficiency.</a:t>
            </a:r>
          </a:p>
          <a:p>
            <a:r>
              <a:rPr lang="en-US" dirty="0"/>
              <a:t>Motor torque is estimated based on motor parameters and measured motor current.</a:t>
            </a:r>
          </a:p>
          <a:p>
            <a:r>
              <a:rPr lang="en-US" dirty="0"/>
              <a:t>BMS Current limit does not compare to the estimated DC Current, it just calculates a torque limit that assumes 100% efficient inverter.</a:t>
            </a:r>
          </a:p>
        </p:txBody>
      </p:sp>
    </p:spTree>
    <p:extLst>
      <p:ext uri="{BB962C8B-B14F-4D97-AF65-F5344CB8AC3E}">
        <p14:creationId xmlns:p14="http://schemas.microsoft.com/office/powerpoint/2010/main" val="42488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171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More Accurate Current Limiting</vt:lpstr>
      <vt:lpstr>PowerPoint Presentation</vt:lpstr>
      <vt:lpstr>CMxxx BMS Current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Brune</dc:creator>
  <cp:lastModifiedBy>Chris Brune</cp:lastModifiedBy>
  <cp:revision>1</cp:revision>
  <dcterms:created xsi:type="dcterms:W3CDTF">2025-09-08T17:21:55Z</dcterms:created>
  <dcterms:modified xsi:type="dcterms:W3CDTF">2025-09-08T18:43:34Z</dcterms:modified>
</cp:coreProperties>
</file>